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1" r:id="rId5"/>
    <p:sldId id="263" r:id="rId6"/>
    <p:sldId id="262" r:id="rId7"/>
    <p:sldId id="265" r:id="rId8"/>
    <p:sldId id="266" r:id="rId9"/>
    <p:sldId id="267"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A37180-9127-449A-8A71-C2DD139FCAA3}" v="2014" dt="2025-12-11T16:47:12.5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11/12/2025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11/12/2025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11/12/2025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38941B0-F4D5-4460-BCAD-F7E2B41A8257}" type="datetimeFigureOut">
              <a:rPr lang="fr-FR" smtClean="0"/>
              <a:t>11/12/2025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38941B0-F4D5-4460-BCAD-F7E2B41A8257}" type="datetimeFigureOut">
              <a:rPr lang="fr-FR" smtClean="0"/>
              <a:t>11/12/2025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38941B0-F4D5-4460-BCAD-F7E2B41A8257}" type="datetimeFigureOut">
              <a:rPr lang="fr-FR" smtClean="0"/>
              <a:t>11/12/2025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38941B0-F4D5-4460-BCAD-F7E2B41A8257}" type="datetimeFigureOut">
              <a:rPr lang="fr-FR" smtClean="0"/>
              <a:t>11/12/2025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11/12/2025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11/12/2025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11/12/2025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11/12/2025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90217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8941B0-F4D5-4460-BCAD-F7E2B41A8257}" type="datetimeFigureOut">
              <a:rPr lang="fr-FR" smtClean="0"/>
              <a:t>11/12/2025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‹N°›</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t="-15000" b="-15000"/>
          </a:stretch>
        </a:blip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731920" y="450600"/>
            <a:ext cx="10828422" cy="2257257"/>
          </a:xfrm>
          <a:noFill/>
        </p:spPr>
        <p:txBody>
          <a:bodyPr vert="horz" lIns="91440" tIns="45720" rIns="91440" bIns="45720" rtlCol="0" anchor="b">
            <a:noAutofit/>
          </a:bodyPr>
          <a:lstStyle/>
          <a:p>
            <a:r>
              <a:rPr lang="fr-FR" sz="5400" dirty="0"/>
              <a:t>Prédiction de la consommation d'énergie de bâtiments </a:t>
            </a:r>
            <a:endParaRPr lang="fr-FR" sz="5400" dirty="0">
              <a:latin typeface="Aptos Display"/>
            </a:endParaRPr>
          </a:p>
        </p:txBody>
      </p:sp>
    </p:spTree>
    <p:extLst>
      <p:ext uri="{BB962C8B-B14F-4D97-AF65-F5344CB8AC3E}">
        <p14:creationId xmlns:p14="http://schemas.microsoft.com/office/powerpoint/2010/main" val="3784089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8F5530-DA31-4B62-8DF9-56A1A3B6B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AEFAF95-013F-4375-AAF4-033AC93F5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11">
            <a:extLst>
              <a:ext uri="{FF2B5EF4-FFF2-40B4-BE49-F238E27FC236}">
                <a16:creationId xmlns:a16="http://schemas.microsoft.com/office/drawing/2014/main" id="{68735E28-7236-42D8-A5E1-A0F302FE8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F3642881-D4B2-4CC2-A287-0FA0006F3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01C50C6-CC43-4D9E-B2AB-F373712E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6E7187D-0938-461D-BFC5-89EEF3506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34C951A-9754-438B-9D57-E6B93B6E4C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FCCC8FCE-0563-4147-B2A2-7C81702EB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E68FC26-41A9-4C82-BE7F-E9344CDC4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FBB336D1-2562-4680-B29B-E22C603C0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21">
            <a:extLst>
              <a:ext uri="{FF2B5EF4-FFF2-40B4-BE49-F238E27FC236}">
                <a16:creationId xmlns:a16="http://schemas.microsoft.com/office/drawing/2014/main" id="{9EED3885-4010-4FBE-A045-DC59CAE782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C3D74F45-ED22-46E8-8A8C-85550ED981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675583-78ED-4BEC-8424-37068227E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9BD9726-207D-4725-AA6E-5147080D5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A43941-4783-4A0B-9385-1952F9F89D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B4806F9C-3233-4FC3-B300-D5AA58A5C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9">
            <a:extLst>
              <a:ext uri="{FF2B5EF4-FFF2-40B4-BE49-F238E27FC236}">
                <a16:creationId xmlns:a16="http://schemas.microsoft.com/office/drawing/2014/main" id="{70E3F9FC-BB7B-433D-8A4F-1BCFA582E0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1406F394-9D6F-4986-A3AF-6EF16DEDE6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F98CF1-0C8F-435D-846B-D3C506378F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781ACDD-4A0F-4369-A468-3FEC355F8E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BB34D61-E762-4862-9DA8-702D97A362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Espace réservé du contenu 2">
            <a:extLst>
              <a:ext uri="{FF2B5EF4-FFF2-40B4-BE49-F238E27FC236}">
                <a16:creationId xmlns:a16="http://schemas.microsoft.com/office/drawing/2014/main" id="{F1545EF0-C184-0760-2135-F7FA24DB7019}"/>
              </a:ext>
            </a:extLst>
          </p:cNvPr>
          <p:cNvSpPr>
            <a:spLocks noGrp="1"/>
          </p:cNvSpPr>
          <p:nvPr>
            <p:ph idx="1"/>
          </p:nvPr>
        </p:nvSpPr>
        <p:spPr>
          <a:xfrm>
            <a:off x="6502152" y="630936"/>
            <a:ext cx="4978592" cy="5626957"/>
          </a:xfrm>
          <a:noFill/>
        </p:spPr>
        <p:txBody>
          <a:bodyPr vert="horz" lIns="91440" tIns="45720" rIns="91440" bIns="45720" rtlCol="0" anchor="ctr">
            <a:normAutofit/>
          </a:bodyPr>
          <a:lstStyle/>
          <a:p>
            <a:endParaRPr lang="fr-FR" sz="1800" u="sng" dirty="0">
              <a:solidFill>
                <a:schemeClr val="bg1"/>
              </a:solidFill>
            </a:endParaRPr>
          </a:p>
          <a:p>
            <a:pPr lvl="1">
              <a:buFont typeface="Courier New" panose="020B0604020202020204" pitchFamily="34" charset="0"/>
              <a:buChar char="o"/>
            </a:pPr>
            <a:endParaRPr lang="fr-FR" sz="1800">
              <a:solidFill>
                <a:schemeClr val="bg1"/>
              </a:solidFill>
            </a:endParaRPr>
          </a:p>
          <a:p>
            <a:endParaRPr lang="fr-FR" sz="1800">
              <a:solidFill>
                <a:schemeClr val="bg1"/>
              </a:solidFill>
            </a:endParaRPr>
          </a:p>
        </p:txBody>
      </p:sp>
      <p:sp>
        <p:nvSpPr>
          <p:cNvPr id="35" name="Titre 1">
            <a:extLst>
              <a:ext uri="{FF2B5EF4-FFF2-40B4-BE49-F238E27FC236}">
                <a16:creationId xmlns:a16="http://schemas.microsoft.com/office/drawing/2014/main" id="{D5C4DB68-F844-6388-D47E-CAA7A40DF2B8}"/>
              </a:ext>
            </a:extLst>
          </p:cNvPr>
          <p:cNvSpPr>
            <a:spLocks noGrp="1"/>
          </p:cNvSpPr>
          <p:nvPr>
            <p:ph type="title"/>
          </p:nvPr>
        </p:nvSpPr>
        <p:spPr>
          <a:xfrm>
            <a:off x="762035" y="582663"/>
            <a:ext cx="2638823" cy="1509994"/>
          </a:xfrm>
        </p:spPr>
        <p:txBody>
          <a:bodyPr vert="horz" lIns="91440" tIns="45720" rIns="91440" bIns="45720" rtlCol="0" anchor="t">
            <a:normAutofit fontScale="90000"/>
          </a:bodyPr>
          <a:lstStyle/>
          <a:p>
            <a:br>
              <a:rPr lang="en-US" dirty="0">
                <a:solidFill>
                  <a:srgbClr val="FFFFFF"/>
                </a:solidFill>
              </a:rPr>
            </a:br>
            <a:r>
              <a:rPr lang="en-US" kern="1200" dirty="0">
                <a:solidFill>
                  <a:srgbClr val="FFFFFF"/>
                </a:solidFill>
                <a:latin typeface="+mj-lt"/>
                <a:ea typeface="+mj-ea"/>
                <a:cs typeface="+mj-cs"/>
              </a:rPr>
              <a:t>Objectif : </a:t>
            </a:r>
            <a:br>
              <a:rPr lang="en-US" dirty="0">
                <a:solidFill>
                  <a:srgbClr val="FFFFFF"/>
                </a:solidFill>
              </a:rPr>
            </a:br>
            <a:endParaRPr lang="en-US" sz="3600">
              <a:solidFill>
                <a:srgbClr val="FFFFFF"/>
              </a:solidFill>
            </a:endParaRPr>
          </a:p>
        </p:txBody>
      </p:sp>
      <p:sp>
        <p:nvSpPr>
          <p:cNvPr id="37" name="ZoneTexte 36">
            <a:extLst>
              <a:ext uri="{FF2B5EF4-FFF2-40B4-BE49-F238E27FC236}">
                <a16:creationId xmlns:a16="http://schemas.microsoft.com/office/drawing/2014/main" id="{24DA1694-0881-51C4-76F8-A4889896D021}"/>
              </a:ext>
            </a:extLst>
          </p:cNvPr>
          <p:cNvSpPr txBox="1"/>
          <p:nvPr/>
        </p:nvSpPr>
        <p:spPr>
          <a:xfrm>
            <a:off x="762000" y="1518313"/>
            <a:ext cx="6403074"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0" i="0" u="none" strike="noStrike" baseline="0" dirty="0">
              <a:solidFill>
                <a:schemeClr val="bg1"/>
              </a:solidFill>
              <a:latin typeface="Aptos Display"/>
              <a:ea typeface="Aptos Display"/>
              <a:cs typeface="Aptos Display"/>
            </a:endParaRPr>
          </a:p>
          <a:p>
            <a:pPr marL="571500" indent="-571500">
              <a:buFont typeface="Arial"/>
              <a:buChar char="•"/>
            </a:pPr>
            <a:r>
              <a:rPr lang="en-US" sz="3600" err="1">
                <a:solidFill>
                  <a:schemeClr val="bg1"/>
                </a:solidFill>
                <a:ea typeface="+mn-lt"/>
                <a:cs typeface="+mn-lt"/>
              </a:rPr>
              <a:t>Prédiction</a:t>
            </a:r>
            <a:r>
              <a:rPr lang="en-US" sz="3600" dirty="0">
                <a:solidFill>
                  <a:schemeClr val="bg1"/>
                </a:solidFill>
                <a:ea typeface="+mn-lt"/>
                <a:cs typeface="+mn-lt"/>
              </a:rPr>
              <a:t> des futures </a:t>
            </a:r>
            <a:r>
              <a:rPr lang="en-US" sz="3600" err="1">
                <a:solidFill>
                  <a:schemeClr val="bg1"/>
                </a:solidFill>
                <a:ea typeface="+mn-lt"/>
                <a:cs typeface="+mn-lt"/>
              </a:rPr>
              <a:t>années</a:t>
            </a:r>
            <a:r>
              <a:rPr lang="en-US" sz="3600" dirty="0">
                <a:solidFill>
                  <a:schemeClr val="bg1"/>
                </a:solidFill>
                <a:ea typeface="+mn-lt"/>
                <a:cs typeface="+mn-lt"/>
              </a:rPr>
              <a:t> sans </a:t>
            </a:r>
            <a:r>
              <a:rPr lang="en-US" sz="3600" err="1">
                <a:solidFill>
                  <a:schemeClr val="bg1"/>
                </a:solidFill>
                <a:ea typeface="+mn-lt"/>
                <a:cs typeface="+mn-lt"/>
              </a:rPr>
              <a:t>avoir</a:t>
            </a:r>
            <a:r>
              <a:rPr lang="en-US" sz="3600" dirty="0">
                <a:solidFill>
                  <a:schemeClr val="bg1"/>
                </a:solidFill>
                <a:ea typeface="+mn-lt"/>
                <a:cs typeface="+mn-lt"/>
              </a:rPr>
              <a:t> </a:t>
            </a:r>
            <a:r>
              <a:rPr lang="en-US" sz="3600" err="1">
                <a:solidFill>
                  <a:schemeClr val="bg1"/>
                </a:solidFill>
                <a:ea typeface="+mn-lt"/>
                <a:cs typeface="+mn-lt"/>
              </a:rPr>
              <a:t>besoin</a:t>
            </a:r>
            <a:r>
              <a:rPr lang="en-US" sz="3600" dirty="0">
                <a:solidFill>
                  <a:schemeClr val="bg1"/>
                </a:solidFill>
                <a:ea typeface="+mn-lt"/>
                <a:cs typeface="+mn-lt"/>
              </a:rPr>
              <a:t> du passage </a:t>
            </a:r>
            <a:r>
              <a:rPr lang="en-US" sz="3600" err="1">
                <a:solidFill>
                  <a:schemeClr val="bg1"/>
                </a:solidFill>
                <a:ea typeface="+mn-lt"/>
                <a:cs typeface="+mn-lt"/>
              </a:rPr>
              <a:t>d'agent</a:t>
            </a:r>
            <a:endParaRPr lang="en-US" sz="3600">
              <a:solidFill>
                <a:schemeClr val="bg1"/>
              </a:solidFill>
              <a:latin typeface="Aptos Display"/>
            </a:endParaRPr>
          </a:p>
        </p:txBody>
      </p:sp>
      <p:sp>
        <p:nvSpPr>
          <p:cNvPr id="39" name="Titre 1">
            <a:extLst>
              <a:ext uri="{FF2B5EF4-FFF2-40B4-BE49-F238E27FC236}">
                <a16:creationId xmlns:a16="http://schemas.microsoft.com/office/drawing/2014/main" id="{B72F4A01-D779-1191-DF81-95B3FD3F5FE8}"/>
              </a:ext>
            </a:extLst>
          </p:cNvPr>
          <p:cNvSpPr txBox="1">
            <a:spLocks/>
          </p:cNvSpPr>
          <p:nvPr/>
        </p:nvSpPr>
        <p:spPr>
          <a:xfrm>
            <a:off x="766584" y="3828555"/>
            <a:ext cx="2638823" cy="1282532"/>
          </a:xfrm>
          <a:prstGeom prst="rect">
            <a:avLst/>
          </a:prstGeom>
        </p:spPr>
        <p:txBody>
          <a:bodyPr vert="horz" lIns="91440" tIns="45720" rIns="91440" bIns="45720" rtlCol="0" anchor="t">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dirty="0">
                <a:solidFill>
                  <a:srgbClr val="FFFFFF"/>
                </a:solidFill>
              </a:rPr>
            </a:br>
            <a:r>
              <a:rPr lang="en-US" dirty="0">
                <a:solidFill>
                  <a:srgbClr val="FFFFFF"/>
                </a:solidFill>
              </a:rPr>
              <a:t>Données : </a:t>
            </a:r>
            <a:br>
              <a:rPr lang="en-US" dirty="0">
                <a:solidFill>
                  <a:srgbClr val="FFFFFF"/>
                </a:solidFill>
              </a:rPr>
            </a:br>
            <a:endParaRPr lang="en-US" sz="3600">
              <a:solidFill>
                <a:srgbClr val="FFFFFF"/>
              </a:solidFill>
            </a:endParaRPr>
          </a:p>
        </p:txBody>
      </p:sp>
      <p:sp>
        <p:nvSpPr>
          <p:cNvPr id="41" name="ZoneTexte 40">
            <a:extLst>
              <a:ext uri="{FF2B5EF4-FFF2-40B4-BE49-F238E27FC236}">
                <a16:creationId xmlns:a16="http://schemas.microsoft.com/office/drawing/2014/main" id="{818D6248-9ED5-307B-D5F3-74037F39B9C2}"/>
              </a:ext>
            </a:extLst>
          </p:cNvPr>
          <p:cNvSpPr txBox="1"/>
          <p:nvPr/>
        </p:nvSpPr>
        <p:spPr>
          <a:xfrm>
            <a:off x="761999" y="4918880"/>
            <a:ext cx="622110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pPr>
            <a:r>
              <a:rPr lang="en-US" sz="3600" dirty="0">
                <a:solidFill>
                  <a:srgbClr val="FFFFFF"/>
                </a:solidFill>
                <a:latin typeface="Aptos Display"/>
              </a:rPr>
              <a:t>Dataset de 2016</a:t>
            </a:r>
          </a:p>
          <a:p>
            <a:pPr marL="571500" indent="-571500">
              <a:buFont typeface="Arial"/>
              <a:buChar char="•"/>
            </a:pPr>
            <a:r>
              <a:rPr lang="en-US" sz="3600" dirty="0">
                <a:solidFill>
                  <a:srgbClr val="FFFFFF"/>
                </a:solidFill>
                <a:latin typeface="Aptos Display"/>
              </a:rPr>
              <a:t>Ville de Seattle</a:t>
            </a:r>
          </a:p>
        </p:txBody>
      </p:sp>
      <p:pic>
        <p:nvPicPr>
          <p:cNvPr id="43" name="Espace réservé du contenu 3" descr="Une image contenant carte, texte, atlas&#10;&#10;Le contenu généré par l’IA peut être incorrect.">
            <a:extLst>
              <a:ext uri="{FF2B5EF4-FFF2-40B4-BE49-F238E27FC236}">
                <a16:creationId xmlns:a16="http://schemas.microsoft.com/office/drawing/2014/main" id="{17FC4105-0D82-B399-28CD-ABCC40921045}"/>
              </a:ext>
            </a:extLst>
          </p:cNvPr>
          <p:cNvPicPr>
            <a:picLocks noChangeAspect="1"/>
          </p:cNvPicPr>
          <p:nvPr/>
        </p:nvPicPr>
        <p:blipFill>
          <a:blip r:embed="rId2"/>
          <a:stretch>
            <a:fillRect/>
          </a:stretch>
        </p:blipFill>
        <p:spPr>
          <a:xfrm>
            <a:off x="8102007" y="555992"/>
            <a:ext cx="3161331" cy="5670549"/>
          </a:xfrm>
          <a:prstGeom prst="rect">
            <a:avLst/>
          </a:prstGeom>
        </p:spPr>
      </p:pic>
    </p:spTree>
    <p:extLst>
      <p:ext uri="{BB962C8B-B14F-4D97-AF65-F5344CB8AC3E}">
        <p14:creationId xmlns:p14="http://schemas.microsoft.com/office/powerpoint/2010/main" val="3255643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40A439-3ED4-22AD-1E6F-09AA5EDBDB4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AE87D57-362E-32DA-F0C1-E5E42DE75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E89FFA1-837B-5DA6-3499-0E42C0B27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11">
            <a:extLst>
              <a:ext uri="{FF2B5EF4-FFF2-40B4-BE49-F238E27FC236}">
                <a16:creationId xmlns:a16="http://schemas.microsoft.com/office/drawing/2014/main" id="{76CED136-04D8-807D-EC1B-7AC28C425A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68855505-6349-ECE2-51C2-ED7F0B46E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2C4B555-571B-BDA9-530E-6FCE247D06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D09CF00-AA94-4DBD-532F-FCF867FF0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1A0ED5E-3288-BA5C-2BC9-B0516DD9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50FD90A7-A06E-0BAF-5BBB-CD3234DB4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7AD284A-4BD2-6A97-EDFC-D70A4C7F9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5B4D34BA-0763-210A-A3FF-E2CE3C981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21">
            <a:extLst>
              <a:ext uri="{FF2B5EF4-FFF2-40B4-BE49-F238E27FC236}">
                <a16:creationId xmlns:a16="http://schemas.microsoft.com/office/drawing/2014/main" id="{2B2B2A40-3C5B-089B-2C56-132489DD3C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54455D6A-D533-0E67-FC00-D6ED982458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14B875E-883C-85DE-D8FE-73E9A543C1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F626233-EBDA-433A-5AE8-76C5D93A9E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873534-A06B-0728-A4C3-199E4D5CD2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E60FD0A4-4D2E-2A37-52E5-96F05F5E22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9">
            <a:extLst>
              <a:ext uri="{FF2B5EF4-FFF2-40B4-BE49-F238E27FC236}">
                <a16:creationId xmlns:a16="http://schemas.microsoft.com/office/drawing/2014/main" id="{AA29B1CC-4ADA-D435-D4A4-C2C96E983F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D2BCCFCD-927C-D931-AA2A-A0546B0B3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30DC3B-AA73-A3B2-6FB8-BB167F1455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89C5708-6486-182F-01FA-E13B5575D4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6C3C4D0-D8F4-B9E2-A411-A20674649F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re 1">
            <a:extLst>
              <a:ext uri="{FF2B5EF4-FFF2-40B4-BE49-F238E27FC236}">
                <a16:creationId xmlns:a16="http://schemas.microsoft.com/office/drawing/2014/main" id="{5198C77A-0DC8-A78A-A39E-2A0AD3EFDA5E}"/>
              </a:ext>
            </a:extLst>
          </p:cNvPr>
          <p:cNvSpPr>
            <a:spLocks noGrp="1"/>
          </p:cNvSpPr>
          <p:nvPr>
            <p:ph type="title"/>
          </p:nvPr>
        </p:nvSpPr>
        <p:spPr>
          <a:xfrm>
            <a:off x="1540787" y="505832"/>
            <a:ext cx="3872826" cy="5626947"/>
          </a:xfrm>
          <a:noFill/>
        </p:spPr>
        <p:txBody>
          <a:bodyPr anchor="ctr">
            <a:normAutofit/>
          </a:bodyPr>
          <a:lstStyle/>
          <a:p>
            <a:r>
              <a:rPr lang="fr-FR" sz="4800" dirty="0">
                <a:solidFill>
                  <a:schemeClr val="bg1"/>
                </a:solidFill>
              </a:rPr>
              <a:t>Exploration </a:t>
            </a:r>
            <a:br>
              <a:rPr lang="fr-FR" sz="4800" dirty="0">
                <a:solidFill>
                  <a:schemeClr val="bg1"/>
                </a:solidFill>
              </a:rPr>
            </a:br>
            <a:r>
              <a:rPr lang="fr-FR" sz="4800" dirty="0">
                <a:solidFill>
                  <a:schemeClr val="bg1"/>
                </a:solidFill>
              </a:rPr>
              <a:t>des données</a:t>
            </a:r>
          </a:p>
        </p:txBody>
      </p:sp>
      <p:sp>
        <p:nvSpPr>
          <p:cNvPr id="3" name="Espace réservé du contenu 2">
            <a:extLst>
              <a:ext uri="{FF2B5EF4-FFF2-40B4-BE49-F238E27FC236}">
                <a16:creationId xmlns:a16="http://schemas.microsoft.com/office/drawing/2014/main" id="{D7B16BD0-618E-A893-5038-2410BA68B0C0}"/>
              </a:ext>
            </a:extLst>
          </p:cNvPr>
          <p:cNvSpPr>
            <a:spLocks noGrp="1"/>
          </p:cNvSpPr>
          <p:nvPr>
            <p:ph idx="1"/>
          </p:nvPr>
        </p:nvSpPr>
        <p:spPr>
          <a:xfrm>
            <a:off x="6502152" y="858399"/>
            <a:ext cx="5035457" cy="5683822"/>
          </a:xfrm>
          <a:noFill/>
        </p:spPr>
        <p:txBody>
          <a:bodyPr vert="horz" lIns="91440" tIns="45720" rIns="91440" bIns="45720" rtlCol="0" anchor="ctr">
            <a:normAutofit/>
          </a:bodyPr>
          <a:lstStyle/>
          <a:p>
            <a:r>
              <a:rPr lang="fr-FR" sz="1800" u="sng" dirty="0">
                <a:solidFill>
                  <a:schemeClr val="bg1"/>
                </a:solidFill>
              </a:rPr>
              <a:t>Géographique:</a:t>
            </a:r>
          </a:p>
          <a:p>
            <a:pPr lvl="1">
              <a:buFont typeface="Courier New" panose="020B0604020202020204" pitchFamily="34" charset="0"/>
              <a:buChar char="o"/>
            </a:pPr>
            <a:r>
              <a:rPr lang="fr-FR" sz="1800" dirty="0">
                <a:solidFill>
                  <a:schemeClr val="bg1"/>
                </a:solidFill>
              </a:rPr>
              <a:t>Latitude, longitude, </a:t>
            </a:r>
            <a:r>
              <a:rPr lang="fr-FR" sz="1800" dirty="0" err="1">
                <a:solidFill>
                  <a:schemeClr val="bg1"/>
                </a:solidFill>
              </a:rPr>
              <a:t>neighborhood</a:t>
            </a:r>
            <a:r>
              <a:rPr lang="fr-FR" sz="1800" dirty="0">
                <a:solidFill>
                  <a:schemeClr val="bg1"/>
                </a:solidFill>
              </a:rPr>
              <a:t>, adresse, ville, …</a:t>
            </a:r>
          </a:p>
          <a:p>
            <a:pPr lvl="1">
              <a:buFont typeface="Courier New" panose="020B0604020202020204" pitchFamily="34" charset="0"/>
              <a:buChar char="o"/>
            </a:pPr>
            <a:endParaRPr lang="fr-FR" sz="1800">
              <a:solidFill>
                <a:schemeClr val="bg1"/>
              </a:solidFill>
            </a:endParaRPr>
          </a:p>
          <a:p>
            <a:r>
              <a:rPr lang="fr-FR" sz="1800" u="sng" dirty="0">
                <a:solidFill>
                  <a:schemeClr val="bg1"/>
                </a:solidFill>
              </a:rPr>
              <a:t>Les métriques:</a:t>
            </a:r>
          </a:p>
          <a:p>
            <a:pPr lvl="1">
              <a:buFont typeface="Courier New" panose="020B0604020202020204" pitchFamily="34" charset="0"/>
              <a:buChar char="o"/>
            </a:pPr>
            <a:r>
              <a:rPr lang="fr-FR" sz="1800" dirty="0">
                <a:solidFill>
                  <a:schemeClr val="bg1"/>
                </a:solidFill>
              </a:rPr>
              <a:t>des mesures de consommations</a:t>
            </a:r>
          </a:p>
          <a:p>
            <a:pPr lvl="1">
              <a:buFont typeface="Courier New" panose="020B0604020202020204" pitchFamily="34" charset="0"/>
              <a:buChar char="o"/>
            </a:pPr>
            <a:r>
              <a:rPr lang="fr-FR" sz="1800" dirty="0">
                <a:solidFill>
                  <a:schemeClr val="bg1"/>
                </a:solidFill>
              </a:rPr>
              <a:t>Les types d'énergies</a:t>
            </a:r>
          </a:p>
          <a:p>
            <a:pPr lvl="1">
              <a:buFont typeface="Courier New" panose="020B0604020202020204" pitchFamily="34" charset="0"/>
              <a:buChar char="o"/>
            </a:pPr>
            <a:r>
              <a:rPr lang="fr-FR" sz="1800" dirty="0">
                <a:solidFill>
                  <a:schemeClr val="bg1"/>
                </a:solidFill>
              </a:rPr>
              <a:t>Emissions</a:t>
            </a:r>
          </a:p>
          <a:p>
            <a:pPr lvl="1">
              <a:buFont typeface="Courier New" panose="020B0604020202020204" pitchFamily="34" charset="0"/>
              <a:buChar char="o"/>
            </a:pPr>
            <a:endParaRPr lang="fr-FR" sz="1800">
              <a:solidFill>
                <a:schemeClr val="bg1"/>
              </a:solidFill>
            </a:endParaRPr>
          </a:p>
          <a:p>
            <a:r>
              <a:rPr lang="fr-FR" sz="1800" u="sng" dirty="0">
                <a:solidFill>
                  <a:schemeClr val="bg1"/>
                </a:solidFill>
              </a:rPr>
              <a:t>Bâtiments:</a:t>
            </a:r>
          </a:p>
          <a:p>
            <a:pPr lvl="1">
              <a:buFont typeface="Courier New" panose="020B0604020202020204" pitchFamily="34" charset="0"/>
              <a:buChar char="o"/>
            </a:pPr>
            <a:r>
              <a:rPr lang="fr-FR" sz="1800" dirty="0">
                <a:solidFill>
                  <a:schemeClr val="bg1"/>
                </a:solidFill>
              </a:rPr>
              <a:t>Type d'utilisation </a:t>
            </a:r>
          </a:p>
          <a:p>
            <a:pPr lvl="2">
              <a:buFont typeface="Wingdings" panose="020B0604020202020204" pitchFamily="34" charset="0"/>
              <a:buChar char="§"/>
            </a:pPr>
            <a:r>
              <a:rPr lang="fr-FR" sz="1800" dirty="0">
                <a:solidFill>
                  <a:schemeClr val="bg1"/>
                </a:solidFill>
              </a:rPr>
              <a:t>la construction, majoritaire, primaire, secondaire, tertiaire, toutes</a:t>
            </a:r>
          </a:p>
          <a:p>
            <a:pPr lvl="2">
              <a:buFont typeface="Wingdings" panose="020B0604020202020204" pitchFamily="34" charset="0"/>
              <a:buChar char="§"/>
            </a:pPr>
            <a:r>
              <a:rPr lang="fr-FR" sz="1800" dirty="0">
                <a:solidFill>
                  <a:schemeClr val="bg1"/>
                </a:solidFill>
              </a:rPr>
              <a:t>Les surfaces pour chaque</a:t>
            </a:r>
          </a:p>
          <a:p>
            <a:pPr lvl="2">
              <a:buFont typeface="Wingdings" panose="020B0604020202020204" pitchFamily="34" charset="0"/>
              <a:buChar char="§"/>
            </a:pPr>
            <a:r>
              <a:rPr lang="fr-FR" sz="1800" dirty="0">
                <a:solidFill>
                  <a:schemeClr val="bg1"/>
                </a:solidFill>
              </a:rPr>
              <a:t>Date de Construction</a:t>
            </a:r>
          </a:p>
          <a:p>
            <a:pPr lvl="1">
              <a:buFont typeface="Courier New" panose="020B0604020202020204" pitchFamily="34" charset="0"/>
              <a:buChar char="o"/>
            </a:pPr>
            <a:endParaRPr lang="fr-FR" sz="1800">
              <a:solidFill>
                <a:schemeClr val="bg1"/>
              </a:solidFill>
            </a:endParaRPr>
          </a:p>
          <a:p>
            <a:r>
              <a:rPr lang="fr-FR" sz="1800" u="sng" dirty="0">
                <a:solidFill>
                  <a:schemeClr val="bg1"/>
                </a:solidFill>
              </a:rPr>
              <a:t>Informations sur les données du </a:t>
            </a:r>
            <a:r>
              <a:rPr lang="fr-FR" sz="1800" u="sng" dirty="0" err="1">
                <a:solidFill>
                  <a:schemeClr val="bg1"/>
                </a:solidFill>
              </a:rPr>
              <a:t>dataset</a:t>
            </a:r>
            <a:r>
              <a:rPr lang="fr-FR" sz="1800" u="sng" dirty="0">
                <a:solidFill>
                  <a:schemeClr val="bg1"/>
                </a:solidFill>
              </a:rPr>
              <a:t>:</a:t>
            </a:r>
          </a:p>
          <a:p>
            <a:pPr lvl="1">
              <a:buFont typeface="Courier New" panose="020B0604020202020204" pitchFamily="34" charset="0"/>
              <a:buChar char="o"/>
            </a:pPr>
            <a:r>
              <a:rPr lang="fr-FR" sz="1800" dirty="0" err="1">
                <a:solidFill>
                  <a:schemeClr val="bg1"/>
                </a:solidFill>
              </a:rPr>
              <a:t>outlier,compliant</a:t>
            </a:r>
            <a:r>
              <a:rPr lang="fr-FR" sz="1800" dirty="0">
                <a:solidFill>
                  <a:schemeClr val="bg1"/>
                </a:solidFill>
              </a:rPr>
              <a:t>,…</a:t>
            </a:r>
          </a:p>
          <a:p>
            <a:pPr lvl="1">
              <a:buFont typeface="Courier New" panose="020B0604020202020204" pitchFamily="34" charset="0"/>
              <a:buChar char="o"/>
            </a:pPr>
            <a:endParaRPr lang="fr-FR" sz="1800">
              <a:solidFill>
                <a:schemeClr val="bg1"/>
              </a:solidFill>
            </a:endParaRPr>
          </a:p>
          <a:p>
            <a:endParaRPr lang="fr-FR" sz="1800">
              <a:solidFill>
                <a:schemeClr val="bg1"/>
              </a:solidFill>
            </a:endParaRPr>
          </a:p>
        </p:txBody>
      </p:sp>
    </p:spTree>
    <p:extLst>
      <p:ext uri="{BB962C8B-B14F-4D97-AF65-F5344CB8AC3E}">
        <p14:creationId xmlns:p14="http://schemas.microsoft.com/office/powerpoint/2010/main" val="729015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C7B71F-AF7F-1A9B-B0DB-B308C005632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51A5BCB-8E48-F945-87A5-274643CF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A5702ED-2EDE-924B-287D-3C8AD63B3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11">
            <a:extLst>
              <a:ext uri="{FF2B5EF4-FFF2-40B4-BE49-F238E27FC236}">
                <a16:creationId xmlns:a16="http://schemas.microsoft.com/office/drawing/2014/main" id="{97902C1B-0700-2B73-1599-5173F14393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5BB92D70-BDA7-B67B-5B47-2CB9546916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418EE3A-3EF6-E101-F618-565BB42A48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7504391-E403-761D-9A81-5551CA1506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FEB070F-BB77-65A0-C588-1A4DF7D97D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A7E42692-084D-3513-5032-72A4BF984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9BF475C-12E3-A089-0368-C3827B8D2F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27BE13C-216A-E7D1-35B6-0ABC2219C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21">
            <a:extLst>
              <a:ext uri="{FF2B5EF4-FFF2-40B4-BE49-F238E27FC236}">
                <a16:creationId xmlns:a16="http://schemas.microsoft.com/office/drawing/2014/main" id="{4CD54115-F463-5FA9-B575-145697744B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2EA81F29-ED69-D001-78E2-E94FD38B52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A046CF6-127F-EC43-7146-8ACFB4139FD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382F14D-D3FD-B9A9-621D-5447BA8174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32678A4-AD02-A523-6D5A-DFA04F94EF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7FFC328D-0BC0-0041-6360-FEC0D4FDD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9">
            <a:extLst>
              <a:ext uri="{FF2B5EF4-FFF2-40B4-BE49-F238E27FC236}">
                <a16:creationId xmlns:a16="http://schemas.microsoft.com/office/drawing/2014/main" id="{33E3568B-E27D-595D-B210-E902110452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35B1D242-EEBB-E99A-612E-134AF3EBF2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CE7894C-FFA1-9CBE-10F5-8A388FBA70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489E7FE-013F-F6AE-214E-061F3A8D5F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9F0088D-10FB-15D1-D4F8-6072DD15646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re 1">
            <a:extLst>
              <a:ext uri="{FF2B5EF4-FFF2-40B4-BE49-F238E27FC236}">
                <a16:creationId xmlns:a16="http://schemas.microsoft.com/office/drawing/2014/main" id="{F4DC7DC4-A261-9DD4-1E28-8E5F774B08A9}"/>
              </a:ext>
            </a:extLst>
          </p:cNvPr>
          <p:cNvSpPr>
            <a:spLocks noGrp="1"/>
          </p:cNvSpPr>
          <p:nvPr>
            <p:ph type="title"/>
          </p:nvPr>
        </p:nvSpPr>
        <p:spPr>
          <a:xfrm>
            <a:off x="1540787" y="505832"/>
            <a:ext cx="8581303" cy="1373395"/>
          </a:xfrm>
          <a:noFill/>
        </p:spPr>
        <p:txBody>
          <a:bodyPr anchor="ctr">
            <a:normAutofit fontScale="90000"/>
          </a:bodyPr>
          <a:lstStyle/>
          <a:p>
            <a:pPr algn="ctr"/>
            <a:r>
              <a:rPr lang="fr-FR" sz="4800" dirty="0">
                <a:solidFill>
                  <a:schemeClr val="bg1"/>
                </a:solidFill>
              </a:rPr>
              <a:t>La multi-utilisation des bâtiments et les données </a:t>
            </a:r>
            <a:r>
              <a:rPr lang="fr-FR" sz="4800" dirty="0" err="1">
                <a:solidFill>
                  <a:schemeClr val="bg1"/>
                </a:solidFill>
              </a:rPr>
              <a:t>liès</a:t>
            </a:r>
          </a:p>
        </p:txBody>
      </p:sp>
      <p:pic>
        <p:nvPicPr>
          <p:cNvPr id="10" name="Image 9" descr="Une image contenant dessin, croquis, art, illustration&#10;&#10;Le contenu généré par l’IA peut être incorrect.">
            <a:extLst>
              <a:ext uri="{FF2B5EF4-FFF2-40B4-BE49-F238E27FC236}">
                <a16:creationId xmlns:a16="http://schemas.microsoft.com/office/drawing/2014/main" id="{0A95D321-6CF2-7CBD-2416-1A80E3B3FB61}"/>
              </a:ext>
            </a:extLst>
          </p:cNvPr>
          <p:cNvPicPr>
            <a:picLocks noChangeAspect="1"/>
          </p:cNvPicPr>
          <p:nvPr/>
        </p:nvPicPr>
        <p:blipFill>
          <a:blip r:embed="rId2"/>
          <a:stretch>
            <a:fillRect/>
          </a:stretch>
        </p:blipFill>
        <p:spPr>
          <a:xfrm>
            <a:off x="990386" y="2076876"/>
            <a:ext cx="3171257" cy="3966666"/>
          </a:xfrm>
          <a:prstGeom prst="rect">
            <a:avLst/>
          </a:prstGeom>
        </p:spPr>
      </p:pic>
      <p:sp>
        <p:nvSpPr>
          <p:cNvPr id="12" name="ZoneTexte 11">
            <a:extLst>
              <a:ext uri="{FF2B5EF4-FFF2-40B4-BE49-F238E27FC236}">
                <a16:creationId xmlns:a16="http://schemas.microsoft.com/office/drawing/2014/main" id="{960C4B53-2E62-F89B-6504-A1EC138DB1B4}"/>
              </a:ext>
            </a:extLst>
          </p:cNvPr>
          <p:cNvSpPr txBox="1"/>
          <p:nvPr/>
        </p:nvSpPr>
        <p:spPr>
          <a:xfrm>
            <a:off x="4890447" y="2627193"/>
            <a:ext cx="5686566"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dirty="0">
                <a:solidFill>
                  <a:schemeClr val="bg1"/>
                </a:solidFill>
              </a:rPr>
              <a:t>Choix du de la bonne valeur:</a:t>
            </a:r>
          </a:p>
          <a:p>
            <a:pPr marL="285750" indent="-285750">
              <a:buFont typeface="Arial"/>
              <a:buChar char="•"/>
            </a:pPr>
            <a:r>
              <a:rPr lang="fr-FR" dirty="0" err="1">
                <a:solidFill>
                  <a:schemeClr val="bg1"/>
                </a:solidFill>
              </a:rPr>
              <a:t>LargestPropertyUseType</a:t>
            </a:r>
            <a:r>
              <a:rPr lang="fr-FR" dirty="0">
                <a:solidFill>
                  <a:schemeClr val="bg1"/>
                </a:solidFill>
              </a:rPr>
              <a:t> (sans le </a:t>
            </a:r>
            <a:r>
              <a:rPr lang="fr-FR" dirty="0" err="1">
                <a:solidFill>
                  <a:schemeClr val="bg1"/>
                </a:solidFill>
              </a:rPr>
              <a:t>housing</a:t>
            </a:r>
            <a:r>
              <a:rPr lang="fr-FR" dirty="0">
                <a:solidFill>
                  <a:schemeClr val="bg1"/>
                </a:solidFill>
              </a:rPr>
              <a:t>)</a:t>
            </a:r>
          </a:p>
          <a:p>
            <a:pPr marL="742950" lvl="1" indent="-285750">
              <a:buFont typeface="Courier New"/>
              <a:buChar char="o"/>
            </a:pPr>
            <a:r>
              <a:rPr lang="fr-FR">
                <a:solidFill>
                  <a:schemeClr val="bg1"/>
                </a:solidFill>
              </a:rPr>
              <a:t>Représente le type majoritaire</a:t>
            </a:r>
          </a:p>
          <a:p>
            <a:pPr marL="285750" indent="-285750">
              <a:buFont typeface="Arial"/>
              <a:buChar char="•"/>
            </a:pPr>
            <a:r>
              <a:rPr lang="fr-FR" dirty="0" err="1">
                <a:solidFill>
                  <a:schemeClr val="bg1"/>
                </a:solidFill>
              </a:rPr>
              <a:t>LargestPropertyUseTypeGFA</a:t>
            </a:r>
            <a:r>
              <a:rPr lang="fr-FR" dirty="0">
                <a:solidFill>
                  <a:schemeClr val="bg1"/>
                </a:solidFill>
              </a:rPr>
              <a:t> (</a:t>
            </a:r>
            <a:r>
              <a:rPr lang="fr-FR" dirty="0" err="1">
                <a:solidFill>
                  <a:schemeClr val="bg1"/>
                </a:solidFill>
              </a:rPr>
              <a:t>suface</a:t>
            </a:r>
            <a:r>
              <a:rPr lang="fr-FR" dirty="0">
                <a:solidFill>
                  <a:schemeClr val="bg1"/>
                </a:solidFill>
              </a:rPr>
              <a:t> en pied carré)</a:t>
            </a:r>
          </a:p>
          <a:p>
            <a:pPr marL="742950" lvl="1" indent="-285750">
              <a:buFont typeface="Courier New"/>
              <a:buChar char="o"/>
            </a:pPr>
            <a:r>
              <a:rPr lang="fr-FR" dirty="0">
                <a:solidFill>
                  <a:schemeClr val="bg1"/>
                </a:solidFill>
              </a:rPr>
              <a:t>Surface liée au type directement</a:t>
            </a:r>
          </a:p>
          <a:p>
            <a:pPr marL="285750" indent="-285750">
              <a:buFont typeface="Arial"/>
              <a:buChar char="•"/>
            </a:pPr>
            <a:r>
              <a:rPr lang="fr-FR" dirty="0">
                <a:solidFill>
                  <a:schemeClr val="bg1"/>
                </a:solidFill>
              </a:rPr>
              <a:t>Conversion de l'année de construction en âge</a:t>
            </a:r>
          </a:p>
          <a:p>
            <a:pPr marL="742950" lvl="1" indent="-285750">
              <a:buFont typeface="Courier New"/>
              <a:buChar char="o"/>
            </a:pPr>
            <a:r>
              <a:rPr lang="fr-FR" dirty="0">
                <a:solidFill>
                  <a:schemeClr val="bg1"/>
                </a:solidFill>
              </a:rPr>
              <a:t>Déduite</a:t>
            </a:r>
          </a:p>
          <a:p>
            <a:pPr marL="1200150" lvl="2" indent="-285750">
              <a:buFont typeface="Wingdings"/>
              <a:buChar char="§"/>
            </a:pPr>
            <a:r>
              <a:rPr lang="fr-FR" dirty="0">
                <a:solidFill>
                  <a:schemeClr val="bg1"/>
                </a:solidFill>
              </a:rPr>
              <a:t>Isolation</a:t>
            </a:r>
          </a:p>
          <a:p>
            <a:pPr marL="1200150" lvl="2" indent="-285750">
              <a:buFont typeface="Wingdings"/>
              <a:buChar char="§"/>
            </a:pPr>
            <a:r>
              <a:rPr lang="fr-FR" dirty="0">
                <a:solidFill>
                  <a:schemeClr val="bg1"/>
                </a:solidFill>
              </a:rPr>
              <a:t>Hauteur de plafond</a:t>
            </a:r>
          </a:p>
          <a:p>
            <a:pPr marL="285750" indent="-285750">
              <a:buFont typeface="Arial"/>
              <a:buChar char="•"/>
            </a:pPr>
            <a:endParaRPr lang="fr-FR" dirty="0">
              <a:solidFill>
                <a:schemeClr val="bg1"/>
              </a:solidFill>
            </a:endParaRPr>
          </a:p>
        </p:txBody>
      </p:sp>
      <p:sp>
        <p:nvSpPr>
          <p:cNvPr id="22" name="Espace réservé du contenu 21">
            <a:extLst>
              <a:ext uri="{FF2B5EF4-FFF2-40B4-BE49-F238E27FC236}">
                <a16:creationId xmlns:a16="http://schemas.microsoft.com/office/drawing/2014/main" id="{C62C5AF2-0F08-C0CA-AE50-A0C96F3E19BB}"/>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2393809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8002E2-ACE2-C5CC-9EB8-257A551ACAB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A20D220-D6C7-EC20-3188-AD7CC82AA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C6787A5-A2F5-28C8-E510-5C09DBD8E3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11">
            <a:extLst>
              <a:ext uri="{FF2B5EF4-FFF2-40B4-BE49-F238E27FC236}">
                <a16:creationId xmlns:a16="http://schemas.microsoft.com/office/drawing/2014/main" id="{116DC1C4-D635-6512-1388-D17ACD0537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081FBC6B-A543-A0C1-2C36-66AA3E8059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770CA67-BB02-7490-7BBF-BD0B516F5D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B1A765A-DD4C-763F-6911-585A59B1DA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D9308D0-8252-F33C-CBA2-CB755F1F4C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3C210E4C-38E9-7302-4187-9F6344522C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D81B5FD-65A0-2BB6-33BB-773166F4B2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D1142791-E26C-3F08-A792-FAC71B576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21">
            <a:extLst>
              <a:ext uri="{FF2B5EF4-FFF2-40B4-BE49-F238E27FC236}">
                <a16:creationId xmlns:a16="http://schemas.microsoft.com/office/drawing/2014/main" id="{15C54A60-5357-738C-4695-4741F6F1E7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0623D7FC-1E97-107D-C7BC-B96EE9E949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F3521F-4D1F-8AFE-3D76-C92FC45582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246C7EE-8AB9-7CD7-5AA6-C9EB7D4C3E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54A7031-3BC3-7EBE-13FF-B7AA17B95F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C1171142-FB5F-05EC-D369-BD876044AD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9">
            <a:extLst>
              <a:ext uri="{FF2B5EF4-FFF2-40B4-BE49-F238E27FC236}">
                <a16:creationId xmlns:a16="http://schemas.microsoft.com/office/drawing/2014/main" id="{BB62E18A-C24D-2C33-0E38-CCF9279A6B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225B4432-7000-B0CD-682F-A09D5DCC13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648CC95-5D6B-7E79-6866-8825BECC781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359F228-CC10-2C3B-A0BF-B05CED0A93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25C5FC8-0FE4-4559-A16F-570585CCCD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re 1">
            <a:extLst>
              <a:ext uri="{FF2B5EF4-FFF2-40B4-BE49-F238E27FC236}">
                <a16:creationId xmlns:a16="http://schemas.microsoft.com/office/drawing/2014/main" id="{92463A11-5E38-3C1A-1B5E-F365CD558072}"/>
              </a:ext>
            </a:extLst>
          </p:cNvPr>
          <p:cNvSpPr>
            <a:spLocks noGrp="1"/>
          </p:cNvSpPr>
          <p:nvPr>
            <p:ph type="title"/>
          </p:nvPr>
        </p:nvSpPr>
        <p:spPr>
          <a:xfrm>
            <a:off x="1540787" y="505832"/>
            <a:ext cx="9093094" cy="759246"/>
          </a:xfrm>
          <a:noFill/>
        </p:spPr>
        <p:txBody>
          <a:bodyPr anchor="ctr">
            <a:normAutofit/>
          </a:bodyPr>
          <a:lstStyle/>
          <a:p>
            <a:r>
              <a:rPr lang="fr-FR" sz="4800" dirty="0">
                <a:solidFill>
                  <a:schemeClr val="bg1"/>
                </a:solidFill>
              </a:rPr>
              <a:t>Données géographiques</a:t>
            </a:r>
          </a:p>
        </p:txBody>
      </p:sp>
      <p:sp>
        <p:nvSpPr>
          <p:cNvPr id="3" name="Espace réservé du contenu 2">
            <a:extLst>
              <a:ext uri="{FF2B5EF4-FFF2-40B4-BE49-F238E27FC236}">
                <a16:creationId xmlns:a16="http://schemas.microsoft.com/office/drawing/2014/main" id="{3A19D6A5-E020-401A-FCAE-B797E0CA131C}"/>
              </a:ext>
            </a:extLst>
          </p:cNvPr>
          <p:cNvSpPr>
            <a:spLocks noGrp="1"/>
          </p:cNvSpPr>
          <p:nvPr>
            <p:ph idx="1"/>
          </p:nvPr>
        </p:nvSpPr>
        <p:spPr>
          <a:xfrm>
            <a:off x="6502152" y="858399"/>
            <a:ext cx="5035457" cy="5683822"/>
          </a:xfrm>
          <a:noFill/>
        </p:spPr>
        <p:txBody>
          <a:bodyPr vert="horz" lIns="91440" tIns="45720" rIns="91440" bIns="45720" rtlCol="0" anchor="ctr">
            <a:normAutofit/>
          </a:bodyPr>
          <a:lstStyle/>
          <a:p>
            <a:endParaRPr lang="fr-FR" sz="1800" u="sng" dirty="0">
              <a:solidFill>
                <a:schemeClr val="bg1"/>
              </a:solidFill>
            </a:endParaRPr>
          </a:p>
          <a:p>
            <a:pPr lvl="1">
              <a:buFont typeface="Courier New" panose="020B0604020202020204" pitchFamily="34" charset="0"/>
              <a:buChar char="o"/>
            </a:pPr>
            <a:endParaRPr lang="fr-FR" sz="1800">
              <a:solidFill>
                <a:schemeClr val="bg1"/>
              </a:solidFill>
            </a:endParaRPr>
          </a:p>
          <a:p>
            <a:endParaRPr lang="fr-FR" sz="1800">
              <a:solidFill>
                <a:schemeClr val="bg1"/>
              </a:solidFill>
            </a:endParaRPr>
          </a:p>
        </p:txBody>
      </p:sp>
      <p:sp>
        <p:nvSpPr>
          <p:cNvPr id="8" name="ZoneTexte 7">
            <a:extLst>
              <a:ext uri="{FF2B5EF4-FFF2-40B4-BE49-F238E27FC236}">
                <a16:creationId xmlns:a16="http://schemas.microsoft.com/office/drawing/2014/main" id="{528A11D2-CF32-6EEA-9ADE-1514F5810273}"/>
              </a:ext>
            </a:extLst>
          </p:cNvPr>
          <p:cNvSpPr txBox="1"/>
          <p:nvPr/>
        </p:nvSpPr>
        <p:spPr>
          <a:xfrm>
            <a:off x="534537" y="1956179"/>
            <a:ext cx="568656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dirty="0">
                <a:solidFill>
                  <a:schemeClr val="bg1"/>
                </a:solidFill>
              </a:rPr>
              <a:t>Choix du de la bonne valeur:</a:t>
            </a:r>
          </a:p>
          <a:p>
            <a:endParaRPr lang="fr-FR" dirty="0">
              <a:solidFill>
                <a:schemeClr val="bg1"/>
              </a:solidFill>
            </a:endParaRPr>
          </a:p>
          <a:p>
            <a:pPr marL="285750" indent="-285750">
              <a:buFont typeface="Arial"/>
              <a:buChar char="•"/>
            </a:pPr>
            <a:r>
              <a:rPr lang="fr-FR" dirty="0" err="1">
                <a:solidFill>
                  <a:schemeClr val="bg1"/>
                </a:solidFill>
              </a:rPr>
              <a:t>Neighborhood</a:t>
            </a:r>
            <a:r>
              <a:rPr lang="fr-FR" dirty="0">
                <a:solidFill>
                  <a:schemeClr val="bg1"/>
                </a:solidFill>
              </a:rPr>
              <a:t> représente le district</a:t>
            </a:r>
          </a:p>
          <a:p>
            <a:pPr marL="285750" indent="-285750">
              <a:buFont typeface="Arial"/>
              <a:buChar char="•"/>
            </a:pPr>
            <a:endParaRPr lang="fr-FR" dirty="0">
              <a:solidFill>
                <a:schemeClr val="bg1"/>
              </a:solidFill>
            </a:endParaRPr>
          </a:p>
          <a:p>
            <a:pPr marL="285750" indent="-285750">
              <a:buFont typeface="Arial"/>
              <a:buChar char="•"/>
            </a:pPr>
            <a:r>
              <a:rPr lang="fr-FR" dirty="0">
                <a:solidFill>
                  <a:schemeClr val="bg1"/>
                </a:solidFill>
              </a:rPr>
              <a:t>Longitude, latitude donne des valeurs trop importantes lors des tests de corrélation( VIF)</a:t>
            </a:r>
          </a:p>
          <a:p>
            <a:pPr marL="285750" indent="-285750">
              <a:buFont typeface="Arial"/>
              <a:buChar char="•"/>
            </a:pPr>
            <a:endParaRPr lang="fr-FR" dirty="0">
              <a:solidFill>
                <a:schemeClr val="bg1"/>
              </a:solidFill>
            </a:endParaRPr>
          </a:p>
          <a:p>
            <a:pPr marL="285750" indent="-285750">
              <a:buFont typeface="Arial"/>
              <a:buChar char="•"/>
            </a:pPr>
            <a:r>
              <a:rPr lang="fr-FR" dirty="0" err="1">
                <a:solidFill>
                  <a:schemeClr val="bg1"/>
                </a:solidFill>
              </a:rPr>
              <a:t>Adrese,zip</a:t>
            </a:r>
            <a:r>
              <a:rPr lang="fr-FR" dirty="0">
                <a:solidFill>
                  <a:schemeClr val="bg1"/>
                </a:solidFill>
              </a:rPr>
              <a:t> code, Nom,.. sont inutilisables</a:t>
            </a:r>
          </a:p>
          <a:p>
            <a:pPr marL="285750" indent="-285750">
              <a:buFont typeface="Arial"/>
              <a:buChar char="•"/>
            </a:pPr>
            <a:endParaRPr lang="fr-FR" dirty="0">
              <a:solidFill>
                <a:schemeClr val="bg1"/>
              </a:solidFill>
            </a:endParaRPr>
          </a:p>
          <a:p>
            <a:pPr marL="285750" indent="-285750">
              <a:buFont typeface="Arial"/>
              <a:buChar char="•"/>
            </a:pPr>
            <a:r>
              <a:rPr lang="fr-FR" dirty="0">
                <a:solidFill>
                  <a:schemeClr val="bg1"/>
                </a:solidFill>
              </a:rPr>
              <a:t>City, State,.. sont constants</a:t>
            </a:r>
          </a:p>
          <a:p>
            <a:pPr marL="285750" indent="-285750">
              <a:buFont typeface="Arial"/>
              <a:buChar char="•"/>
            </a:pPr>
            <a:endParaRPr lang="fr-FR" dirty="0">
              <a:solidFill>
                <a:schemeClr val="bg1"/>
              </a:solidFill>
            </a:endParaRPr>
          </a:p>
          <a:p>
            <a:pPr marL="285750" indent="-285750">
              <a:buFont typeface="Arial"/>
              <a:buChar char="•"/>
            </a:pPr>
            <a:r>
              <a:rPr lang="fr-FR" dirty="0" err="1">
                <a:solidFill>
                  <a:schemeClr val="bg1"/>
                </a:solidFill>
                <a:ea typeface="+mn-lt"/>
                <a:cs typeface="+mn-lt"/>
              </a:rPr>
              <a:t>NumberofFloors</a:t>
            </a:r>
            <a:r>
              <a:rPr lang="fr-FR" dirty="0">
                <a:solidFill>
                  <a:schemeClr val="bg1"/>
                </a:solidFill>
                <a:ea typeface="+mn-lt"/>
                <a:cs typeface="+mn-lt"/>
              </a:rPr>
              <a:t> non utile avec des données incohérentes (max </a:t>
            </a:r>
            <a:r>
              <a:rPr lang="fr-FR" dirty="0" err="1">
                <a:solidFill>
                  <a:schemeClr val="bg1"/>
                </a:solidFill>
                <a:ea typeface="+mn-lt"/>
                <a:cs typeface="+mn-lt"/>
              </a:rPr>
              <a:t>floor</a:t>
            </a:r>
            <a:r>
              <a:rPr lang="fr-FR" dirty="0">
                <a:solidFill>
                  <a:schemeClr val="bg1"/>
                </a:solidFill>
                <a:ea typeface="+mn-lt"/>
                <a:cs typeface="+mn-lt"/>
              </a:rPr>
              <a:t> &gt;285)</a:t>
            </a:r>
          </a:p>
          <a:p>
            <a:pPr marL="285750" indent="-285750">
              <a:buFont typeface="Arial"/>
              <a:buChar char="•"/>
            </a:pPr>
            <a:endParaRPr lang="fr-FR" dirty="0">
              <a:solidFill>
                <a:schemeClr val="bg1"/>
              </a:solidFill>
            </a:endParaRPr>
          </a:p>
        </p:txBody>
      </p:sp>
      <p:pic>
        <p:nvPicPr>
          <p:cNvPr id="10" name="Image 9" descr="Une image contenant texte, capture d’écran, Caractère coloré, cercle&#10;&#10;Le contenu généré par l’IA peut être incorrect.">
            <a:extLst>
              <a:ext uri="{FF2B5EF4-FFF2-40B4-BE49-F238E27FC236}">
                <a16:creationId xmlns:a16="http://schemas.microsoft.com/office/drawing/2014/main" id="{5C6C66A6-2C75-0FC6-241E-D3DE493C0DC9}"/>
              </a:ext>
            </a:extLst>
          </p:cNvPr>
          <p:cNvPicPr>
            <a:picLocks noChangeAspect="1"/>
          </p:cNvPicPr>
          <p:nvPr/>
        </p:nvPicPr>
        <p:blipFill>
          <a:blip r:embed="rId2"/>
          <a:stretch>
            <a:fillRect/>
          </a:stretch>
        </p:blipFill>
        <p:spPr>
          <a:xfrm>
            <a:off x="6326570" y="1924294"/>
            <a:ext cx="5391150" cy="4000500"/>
          </a:xfrm>
          <a:prstGeom prst="rect">
            <a:avLst/>
          </a:prstGeom>
        </p:spPr>
      </p:pic>
    </p:spTree>
    <p:extLst>
      <p:ext uri="{BB962C8B-B14F-4D97-AF65-F5344CB8AC3E}">
        <p14:creationId xmlns:p14="http://schemas.microsoft.com/office/powerpoint/2010/main" val="1449330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11FE33-805E-32FE-DF23-88341BCE5A1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58870AC-4E38-11B7-0FC1-8988B51E4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772845F-9359-483A-679F-10B15306E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11">
            <a:extLst>
              <a:ext uri="{FF2B5EF4-FFF2-40B4-BE49-F238E27FC236}">
                <a16:creationId xmlns:a16="http://schemas.microsoft.com/office/drawing/2014/main" id="{18E9D2A6-90B6-4077-D264-A5A24A0298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B1185D89-55FA-556D-C19C-E7A107042C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6470A62-3535-1414-7DFE-5FB43706F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52B607A-33FA-3D4B-4A29-79E093FDC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8508522-2355-885C-EF9B-0FDD9330C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8C3CD379-78E3-3DAF-FAD2-AA61CBD4B1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72CE151-28AE-6295-3967-F67E151670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6E764E94-B2D9-C99D-11FA-01241140C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21">
            <a:extLst>
              <a:ext uri="{FF2B5EF4-FFF2-40B4-BE49-F238E27FC236}">
                <a16:creationId xmlns:a16="http://schemas.microsoft.com/office/drawing/2014/main" id="{664F1283-7B2C-DD76-4949-1F7484ED3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3A572F83-09B6-6CA3-7E21-6499EED127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4ADB708-B7D7-0F2D-9F88-1220981AC5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891DCD-D629-ACF1-D6FC-CC9059343E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F092FFD-0668-C6EA-5645-E2646EFFAB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CCAC9D5E-F0BA-3CDD-9A4A-1A923DBE8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9">
            <a:extLst>
              <a:ext uri="{FF2B5EF4-FFF2-40B4-BE49-F238E27FC236}">
                <a16:creationId xmlns:a16="http://schemas.microsoft.com/office/drawing/2014/main" id="{9C878EE9-57FE-6342-7791-DCF464B7FC7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B24300B3-EC66-6C5A-2B41-49C5B7F10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92FC2B1-0F56-F195-E3C2-9E70B3B836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0DA49E2-31EE-D81B-697A-F1F8B66903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C17BE7D-8293-9FB2-1F30-AC752E3853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re 1">
            <a:extLst>
              <a:ext uri="{FF2B5EF4-FFF2-40B4-BE49-F238E27FC236}">
                <a16:creationId xmlns:a16="http://schemas.microsoft.com/office/drawing/2014/main" id="{3801E9ED-B0E9-E076-3A68-DA164C30341C}"/>
              </a:ext>
            </a:extLst>
          </p:cNvPr>
          <p:cNvSpPr>
            <a:spLocks noGrp="1"/>
          </p:cNvSpPr>
          <p:nvPr>
            <p:ph type="title"/>
          </p:nvPr>
        </p:nvSpPr>
        <p:spPr>
          <a:xfrm>
            <a:off x="778787" y="1847861"/>
            <a:ext cx="6500020" cy="4466888"/>
          </a:xfrm>
          <a:noFill/>
        </p:spPr>
        <p:txBody>
          <a:bodyPr anchor="ctr">
            <a:normAutofit fontScale="90000"/>
          </a:bodyPr>
          <a:lstStyle/>
          <a:p>
            <a:pPr marL="171450" indent="-171450">
              <a:buFont typeface="Arial"/>
              <a:buChar char="•"/>
            </a:pPr>
            <a:r>
              <a:rPr lang="fr-FR" sz="2400" dirty="0">
                <a:solidFill>
                  <a:schemeClr val="bg1"/>
                </a:solidFill>
                <a:ea typeface="+mj-lt"/>
                <a:cs typeface="+mj-lt"/>
              </a:rPr>
              <a:t>Choix du SiteEnergyUse(kBtu)</a:t>
            </a:r>
            <a:br>
              <a:rPr lang="fr-FR" sz="2400" dirty="0">
                <a:solidFill>
                  <a:schemeClr val="bg1"/>
                </a:solidFill>
                <a:ea typeface="+mj-lt"/>
                <a:cs typeface="+mj-lt"/>
              </a:rPr>
            </a:br>
            <a:br>
              <a:rPr lang="fr-FR" sz="2400" dirty="0">
                <a:solidFill>
                  <a:schemeClr val="bg1"/>
                </a:solidFill>
                <a:ea typeface="+mj-lt"/>
                <a:cs typeface="+mj-lt"/>
              </a:rPr>
            </a:br>
            <a:br>
              <a:rPr lang="fr-FR" sz="2400" dirty="0">
                <a:solidFill>
                  <a:schemeClr val="bg1"/>
                </a:solidFill>
                <a:ea typeface="+mj-lt"/>
                <a:cs typeface="+mj-lt"/>
              </a:rPr>
            </a:br>
            <a:br>
              <a:rPr lang="fr-FR" sz="2400" dirty="0">
                <a:ea typeface="+mj-lt"/>
                <a:cs typeface="+mj-lt"/>
              </a:rPr>
            </a:br>
            <a:r>
              <a:rPr lang="fr-FR" sz="2400" dirty="0">
                <a:solidFill>
                  <a:schemeClr val="bg1"/>
                </a:solidFill>
                <a:ea typeface="+mj-lt"/>
                <a:cs typeface="+mj-lt"/>
              </a:rPr>
              <a:t>Non retenu:</a:t>
            </a:r>
            <a:br>
              <a:rPr lang="fr-FR" sz="2400" dirty="0">
                <a:ea typeface="+mj-lt"/>
                <a:cs typeface="+mj-lt"/>
              </a:rPr>
            </a:br>
            <a:endParaRPr lang="fr-FR" sz="2400" dirty="0">
              <a:solidFill>
                <a:schemeClr val="bg1"/>
              </a:solidFill>
              <a:ea typeface="+mj-lt"/>
              <a:cs typeface="+mj-lt"/>
            </a:endParaRPr>
          </a:p>
          <a:p>
            <a:pPr marL="171450" indent="-171450">
              <a:buFont typeface="Arial"/>
              <a:buChar char="•"/>
            </a:pPr>
            <a:r>
              <a:rPr lang="fr-FR" sz="2400">
                <a:solidFill>
                  <a:schemeClr val="bg1"/>
                </a:solidFill>
                <a:ea typeface="+mj-lt"/>
                <a:cs typeface="+mj-lt"/>
              </a:rPr>
              <a:t>EUI est une propriété liée à la consommation énergétique du site divisé par sa surface brute au </a:t>
            </a:r>
            <a:r>
              <a:rPr lang="fr-FR" sz="2400" dirty="0">
                <a:solidFill>
                  <a:schemeClr val="bg1"/>
                </a:solidFill>
                <a:ea typeface="+mj-lt"/>
                <a:cs typeface="+mj-lt"/>
              </a:rPr>
              <a:t>sol</a:t>
            </a:r>
            <a:br>
              <a:rPr lang="fr-FR" sz="2400" dirty="0">
                <a:solidFill>
                  <a:schemeClr val="bg1"/>
                </a:solidFill>
                <a:ea typeface="+mj-lt"/>
                <a:cs typeface="+mj-lt"/>
              </a:rPr>
            </a:br>
            <a:endParaRPr lang="fr-FR" sz="2400">
              <a:solidFill>
                <a:schemeClr val="bg1"/>
              </a:solidFill>
            </a:endParaRPr>
          </a:p>
          <a:p>
            <a:pPr marL="171450" indent="-171450">
              <a:buFont typeface="Arial"/>
              <a:buChar char="•"/>
            </a:pPr>
            <a:r>
              <a:rPr lang="fr-FR" sz="2400" err="1">
                <a:solidFill>
                  <a:schemeClr val="bg1"/>
                </a:solidFill>
                <a:ea typeface="+mj-lt"/>
                <a:cs typeface="+mj-lt"/>
              </a:rPr>
              <a:t>sf</a:t>
            </a:r>
            <a:r>
              <a:rPr lang="fr-FR" sz="2400" dirty="0">
                <a:solidFill>
                  <a:schemeClr val="bg1"/>
                </a:solidFill>
                <a:ea typeface="+mj-lt"/>
                <a:cs typeface="+mj-lt"/>
              </a:rPr>
              <a:t> est une normalisation sur 30 ans</a:t>
            </a:r>
            <a:br>
              <a:rPr lang="fr-FR" sz="2400" dirty="0">
                <a:solidFill>
                  <a:schemeClr val="bg1"/>
                </a:solidFill>
                <a:ea typeface="+mj-lt"/>
                <a:cs typeface="+mj-lt"/>
              </a:rPr>
            </a:br>
            <a:br>
              <a:rPr lang="fr-FR" sz="2400" dirty="0">
                <a:ea typeface="+mj-lt"/>
                <a:cs typeface="+mj-lt"/>
              </a:rPr>
            </a:br>
            <a:r>
              <a:rPr lang="fr-FR" sz="2400" dirty="0">
                <a:solidFill>
                  <a:schemeClr val="bg1"/>
                </a:solidFill>
                <a:ea typeface="+mj-lt"/>
                <a:cs typeface="+mj-lt"/>
              </a:rPr>
              <a:t>WN sont influencés par des données de temps non </a:t>
            </a:r>
            <a:r>
              <a:rPr lang="fr-FR" sz="2400">
                <a:solidFill>
                  <a:schemeClr val="bg1"/>
                </a:solidFill>
                <a:ea typeface="+mj-lt"/>
                <a:cs typeface="+mj-lt"/>
              </a:rPr>
              <a:t>présentes et non réutilisables.</a:t>
            </a:r>
            <a:br>
              <a:rPr lang="fr-FR" sz="2400" dirty="0">
                <a:ea typeface="+mj-lt"/>
                <a:cs typeface="+mj-lt"/>
              </a:rPr>
            </a:br>
            <a:br>
              <a:rPr lang="fr-FR" sz="1200" dirty="0">
                <a:ea typeface="+mj-lt"/>
                <a:cs typeface="+mj-lt"/>
              </a:rPr>
            </a:br>
            <a:br>
              <a:rPr lang="fr-FR" sz="1200" dirty="0">
                <a:ea typeface="+mj-lt"/>
                <a:cs typeface="+mj-lt"/>
              </a:rPr>
            </a:br>
            <a:br>
              <a:rPr lang="fr-FR" sz="1200" dirty="0">
                <a:ea typeface="+mj-lt"/>
                <a:cs typeface="+mj-lt"/>
              </a:rPr>
            </a:br>
            <a:endParaRPr lang="fr-FR" sz="1200" dirty="0">
              <a:ea typeface="+mj-lt"/>
              <a:cs typeface="+mj-lt"/>
            </a:endParaRPr>
          </a:p>
        </p:txBody>
      </p:sp>
      <p:sp>
        <p:nvSpPr>
          <p:cNvPr id="8" name="Titre 1">
            <a:extLst>
              <a:ext uri="{FF2B5EF4-FFF2-40B4-BE49-F238E27FC236}">
                <a16:creationId xmlns:a16="http://schemas.microsoft.com/office/drawing/2014/main" id="{691D03AC-3934-CE83-F841-AFA247205FB3}"/>
              </a:ext>
            </a:extLst>
          </p:cNvPr>
          <p:cNvSpPr txBox="1">
            <a:spLocks/>
          </p:cNvSpPr>
          <p:nvPr/>
        </p:nvSpPr>
        <p:spPr>
          <a:xfrm>
            <a:off x="1540787" y="471713"/>
            <a:ext cx="8387961" cy="759246"/>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90000"/>
              </a:lnSpc>
              <a:spcBef>
                <a:spcPct val="0"/>
              </a:spcBef>
            </a:pPr>
            <a:r>
              <a:rPr lang="fr-FR" sz="4800" dirty="0">
                <a:solidFill>
                  <a:schemeClr val="bg1"/>
                </a:solidFill>
                <a:latin typeface="Aptos Display"/>
              </a:rPr>
              <a:t>Données métriques</a:t>
            </a:r>
          </a:p>
        </p:txBody>
      </p:sp>
    </p:spTree>
    <p:extLst>
      <p:ext uri="{BB962C8B-B14F-4D97-AF65-F5344CB8AC3E}">
        <p14:creationId xmlns:p14="http://schemas.microsoft.com/office/powerpoint/2010/main" val="69510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F62D79-7DBC-C608-58D1-1A4E1CFE96C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3EA43CF-9BCD-8C15-A806-552AE6E44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8E160BD-F87C-91DD-6B58-2DA2DDD22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11">
            <a:extLst>
              <a:ext uri="{FF2B5EF4-FFF2-40B4-BE49-F238E27FC236}">
                <a16:creationId xmlns:a16="http://schemas.microsoft.com/office/drawing/2014/main" id="{49630EAC-8080-502F-98FD-BAAC85581C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6599C40E-8864-740B-00E9-3DAD41ACA2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8A07AE7-CE9F-1357-EF1B-EF3A90F2A2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C7D4092-BC9B-1443-039F-2A3726DE26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C34ACE1-A8A3-ACDE-D5EA-7504589D49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1486BDA2-C309-D567-6723-AB988FEE1F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B931720-51B9-D0A0-4125-C36568D8E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E0773C74-7625-D5E6-1F69-F98A572E01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21">
            <a:extLst>
              <a:ext uri="{FF2B5EF4-FFF2-40B4-BE49-F238E27FC236}">
                <a16:creationId xmlns:a16="http://schemas.microsoft.com/office/drawing/2014/main" id="{817C2D63-C7DA-3629-02FA-7C58EB94B10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E1163DF2-B496-4021-41EF-C9B923D417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AF01B22-25C9-A4F8-CE27-08C23125E8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BAC1FE2-0BE8-EFA2-2612-79E254DB5D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52955AE-F672-C9E8-D709-3D7D957AC7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253E57AF-44A7-3E3A-65B5-FB6D1ABCE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9">
            <a:extLst>
              <a:ext uri="{FF2B5EF4-FFF2-40B4-BE49-F238E27FC236}">
                <a16:creationId xmlns:a16="http://schemas.microsoft.com/office/drawing/2014/main" id="{44717908-B28E-6765-5A8F-FCCB44DA39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A72A8DEC-FD90-BE60-1EDF-7B32806DD5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4AA9655-C55C-462A-B606-0EA149D69F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ED86508-A593-4B41-6459-CC768F385D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F8B4C2F-D6F3-96CF-9A1C-F5E0A7554F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 name="Titre 1">
            <a:extLst>
              <a:ext uri="{FF2B5EF4-FFF2-40B4-BE49-F238E27FC236}">
                <a16:creationId xmlns:a16="http://schemas.microsoft.com/office/drawing/2014/main" id="{165D2A0D-242A-528A-D1DE-8196CBC1ABBF}"/>
              </a:ext>
            </a:extLst>
          </p:cNvPr>
          <p:cNvSpPr txBox="1">
            <a:spLocks/>
          </p:cNvSpPr>
          <p:nvPr/>
        </p:nvSpPr>
        <p:spPr>
          <a:xfrm>
            <a:off x="1540787" y="471713"/>
            <a:ext cx="8387961" cy="759246"/>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800" dirty="0">
                <a:solidFill>
                  <a:schemeClr val="bg1"/>
                </a:solidFill>
                <a:latin typeface="Aptos Display"/>
              </a:rPr>
              <a:t>Préparation des données</a:t>
            </a:r>
          </a:p>
        </p:txBody>
      </p:sp>
      <p:sp>
        <p:nvSpPr>
          <p:cNvPr id="22" name="ZoneTexte 21">
            <a:extLst>
              <a:ext uri="{FF2B5EF4-FFF2-40B4-BE49-F238E27FC236}">
                <a16:creationId xmlns:a16="http://schemas.microsoft.com/office/drawing/2014/main" id="{50D75C89-F597-1B80-574F-EF6C89602AF5}"/>
              </a:ext>
            </a:extLst>
          </p:cNvPr>
          <p:cNvSpPr txBox="1"/>
          <p:nvPr/>
        </p:nvSpPr>
        <p:spPr>
          <a:xfrm>
            <a:off x="534537" y="1489880"/>
            <a:ext cx="10940954" cy="54476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400" dirty="0">
                <a:solidFill>
                  <a:schemeClr val="bg1"/>
                </a:solidFill>
              </a:rPr>
              <a:t>Recherche:</a:t>
            </a:r>
          </a:p>
          <a:p>
            <a:endParaRPr lang="fr-FR" dirty="0">
              <a:solidFill>
                <a:schemeClr val="bg1"/>
              </a:solidFill>
            </a:endParaRPr>
          </a:p>
          <a:p>
            <a:pPr marL="285750" indent="-285750">
              <a:buFont typeface="Arial"/>
              <a:buChar char="•"/>
            </a:pPr>
            <a:r>
              <a:rPr lang="fr-FR" dirty="0">
                <a:solidFill>
                  <a:schemeClr val="bg1"/>
                </a:solidFill>
              </a:rPr>
              <a:t>Quantification des uniques</a:t>
            </a:r>
          </a:p>
          <a:p>
            <a:pPr marL="285750" indent="-285750">
              <a:buFont typeface="Arial"/>
              <a:buChar char="•"/>
            </a:pPr>
            <a:r>
              <a:rPr lang="fr-FR" dirty="0">
                <a:solidFill>
                  <a:schemeClr val="bg1"/>
                </a:solidFill>
              </a:rPr>
              <a:t>Des données vides</a:t>
            </a:r>
          </a:p>
          <a:p>
            <a:pPr marL="285750" indent="-285750">
              <a:buFont typeface="Arial"/>
              <a:buChar char="•"/>
            </a:pPr>
            <a:r>
              <a:rPr lang="fr-FR" dirty="0">
                <a:solidFill>
                  <a:schemeClr val="bg1"/>
                </a:solidFill>
              </a:rPr>
              <a:t>Des doublons </a:t>
            </a:r>
            <a:r>
              <a:rPr lang="fr-FR" err="1">
                <a:solidFill>
                  <a:schemeClr val="bg1"/>
                </a:solidFill>
              </a:rPr>
              <a:t>id,property</a:t>
            </a:r>
            <a:r>
              <a:rPr lang="fr-FR" dirty="0">
                <a:solidFill>
                  <a:schemeClr val="bg1"/>
                </a:solidFill>
              </a:rPr>
              <a:t> </a:t>
            </a:r>
            <a:r>
              <a:rPr lang="fr-FR" err="1">
                <a:solidFill>
                  <a:schemeClr val="bg1"/>
                </a:solidFill>
              </a:rPr>
              <a:t>name</a:t>
            </a:r>
            <a:endParaRPr lang="fr-FR">
              <a:solidFill>
                <a:schemeClr val="bg1"/>
              </a:solidFill>
            </a:endParaRPr>
          </a:p>
          <a:p>
            <a:pPr marL="285750" indent="-285750">
              <a:buFont typeface="Arial"/>
              <a:buChar char="•"/>
            </a:pPr>
            <a:endParaRPr lang="fr-FR" dirty="0">
              <a:solidFill>
                <a:schemeClr val="bg1"/>
              </a:solidFill>
            </a:endParaRPr>
          </a:p>
          <a:p>
            <a:pPr marL="285750" indent="-285750">
              <a:buFont typeface="Arial"/>
              <a:buChar char="•"/>
            </a:pPr>
            <a:r>
              <a:rPr lang="fr-FR" dirty="0">
                <a:solidFill>
                  <a:schemeClr val="bg1"/>
                </a:solidFill>
              </a:rPr>
              <a:t>Visualisation des </a:t>
            </a:r>
            <a:r>
              <a:rPr lang="fr-FR" err="1">
                <a:solidFill>
                  <a:schemeClr val="bg1"/>
                </a:solidFill>
              </a:rPr>
              <a:t>outliers</a:t>
            </a:r>
            <a:endParaRPr lang="fr-FR">
              <a:solidFill>
                <a:schemeClr val="bg1"/>
              </a:solidFill>
            </a:endParaRPr>
          </a:p>
          <a:p>
            <a:pPr marL="742950" lvl="1" indent="-285750">
              <a:buFont typeface="Courier New"/>
              <a:buChar char="o"/>
            </a:pPr>
            <a:r>
              <a:rPr lang="fr-FR" dirty="0">
                <a:solidFill>
                  <a:schemeClr val="bg1"/>
                </a:solidFill>
              </a:rPr>
              <a:t>Retrait par soustraction des interquartiles min et max (IQR*1.5)</a:t>
            </a:r>
          </a:p>
          <a:p>
            <a:pPr marL="285750" indent="-285750">
              <a:buFont typeface="Arial"/>
              <a:buChar char="•"/>
            </a:pPr>
            <a:r>
              <a:rPr lang="fr-FR">
                <a:solidFill>
                  <a:schemeClr val="bg1"/>
                </a:solidFill>
              </a:rPr>
              <a:t>Retrait des valeurs non "Compliants"</a:t>
            </a:r>
          </a:p>
          <a:p>
            <a:pPr marL="285750" indent="-285750">
              <a:buFont typeface="Arial"/>
              <a:buChar char="•"/>
            </a:pPr>
            <a:endParaRPr lang="fr-FR" dirty="0">
              <a:solidFill>
                <a:schemeClr val="bg1"/>
              </a:solidFill>
            </a:endParaRPr>
          </a:p>
          <a:p>
            <a:pPr marL="285750" indent="-285750">
              <a:buFont typeface="Arial"/>
              <a:buChar char="•"/>
            </a:pPr>
            <a:r>
              <a:rPr lang="fr-FR" dirty="0">
                <a:solidFill>
                  <a:schemeClr val="bg1"/>
                </a:solidFill>
              </a:rPr>
              <a:t>Transformation de</a:t>
            </a:r>
          </a:p>
          <a:p>
            <a:pPr marL="742950" lvl="1" indent="-285750">
              <a:buFont typeface="Courier New"/>
              <a:buChar char="o"/>
            </a:pPr>
            <a:r>
              <a:rPr lang="fr-FR" dirty="0">
                <a:solidFill>
                  <a:schemeClr val="bg1"/>
                </a:solidFill>
              </a:rPr>
              <a:t> </a:t>
            </a:r>
            <a:r>
              <a:rPr lang="fr-FR" dirty="0" err="1">
                <a:solidFill>
                  <a:schemeClr val="bg1"/>
                </a:solidFill>
              </a:rPr>
              <a:t>YearBuilt</a:t>
            </a:r>
            <a:r>
              <a:rPr lang="fr-FR">
                <a:solidFill>
                  <a:schemeClr val="bg1"/>
                </a:solidFill>
              </a:rPr>
              <a:t> en âge (inverse la pondération de la valeur)</a:t>
            </a:r>
          </a:p>
          <a:p>
            <a:pPr marL="742950" lvl="1" indent="-285750">
              <a:buFont typeface="Courier New"/>
              <a:buChar char="o"/>
            </a:pPr>
            <a:r>
              <a:rPr lang="fr-FR" dirty="0" err="1">
                <a:solidFill>
                  <a:schemeClr val="bg1"/>
                </a:solidFill>
              </a:rPr>
              <a:t>Neighborhood</a:t>
            </a:r>
            <a:r>
              <a:rPr lang="fr-FR" dirty="0">
                <a:solidFill>
                  <a:schemeClr val="bg1"/>
                </a:solidFill>
              </a:rPr>
              <a:t>, </a:t>
            </a:r>
            <a:r>
              <a:rPr lang="fr-FR" dirty="0" err="1">
                <a:solidFill>
                  <a:schemeClr val="bg1"/>
                </a:solidFill>
              </a:rPr>
              <a:t>PropertyType</a:t>
            </a:r>
            <a:r>
              <a:rPr lang="fr-FR" dirty="0">
                <a:solidFill>
                  <a:schemeClr val="bg1"/>
                </a:solidFill>
              </a:rPr>
              <a:t> et les 3 types d'énergie en </a:t>
            </a:r>
            <a:r>
              <a:rPr lang="fr-FR" dirty="0" err="1">
                <a:solidFill>
                  <a:schemeClr val="bg1"/>
                </a:solidFill>
              </a:rPr>
              <a:t>boléan</a:t>
            </a:r>
            <a:r>
              <a:rPr lang="fr-FR" dirty="0">
                <a:solidFill>
                  <a:schemeClr val="bg1"/>
                </a:solidFill>
              </a:rPr>
              <a:t>(</a:t>
            </a:r>
            <a:r>
              <a:rPr lang="fr-FR" dirty="0" err="1">
                <a:solidFill>
                  <a:schemeClr val="bg1"/>
                </a:solidFill>
              </a:rPr>
              <a:t>oneHotEncoder</a:t>
            </a:r>
            <a:r>
              <a:rPr lang="fr-FR" dirty="0">
                <a:solidFill>
                  <a:schemeClr val="bg1"/>
                </a:solidFill>
              </a:rPr>
              <a:t>)</a:t>
            </a:r>
          </a:p>
          <a:p>
            <a:pPr marL="742950" lvl="1" indent="-285750">
              <a:buFont typeface="Courier New"/>
              <a:buChar char="o"/>
            </a:pPr>
            <a:r>
              <a:rPr lang="fr-FR" dirty="0">
                <a:solidFill>
                  <a:schemeClr val="bg1"/>
                </a:solidFill>
              </a:rPr>
              <a:t>Standardisation des surfaces</a:t>
            </a:r>
          </a:p>
          <a:p>
            <a:pPr marL="742950" lvl="1" indent="-285750">
              <a:buFont typeface="Courier New"/>
              <a:buChar char="o"/>
            </a:pPr>
            <a:endParaRPr lang="fr-FR" dirty="0">
              <a:solidFill>
                <a:schemeClr val="bg1"/>
              </a:solidFill>
              <a:ea typeface="+mn-lt"/>
              <a:cs typeface="+mn-lt"/>
            </a:endParaRPr>
          </a:p>
          <a:p>
            <a:pPr marL="285750" indent="-285750">
              <a:buFont typeface="Arial"/>
              <a:buChar char="•"/>
            </a:pPr>
            <a:r>
              <a:rPr lang="fr-FR" dirty="0">
                <a:solidFill>
                  <a:schemeClr val="bg1"/>
                </a:solidFill>
                <a:ea typeface="+mn-lt"/>
                <a:cs typeface="+mn-lt"/>
              </a:rPr>
              <a:t>Après épuration, il reste un jeu de 1441 valeurs</a:t>
            </a:r>
          </a:p>
          <a:p>
            <a:pPr marL="285750" indent="-285750">
              <a:buFont typeface="Arial"/>
              <a:buChar char="•"/>
            </a:pPr>
            <a:endParaRPr lang="fr-FR" dirty="0">
              <a:solidFill>
                <a:schemeClr val="bg1"/>
              </a:solidFill>
            </a:endParaRPr>
          </a:p>
          <a:p>
            <a:pPr marL="285750" indent="-285750">
              <a:buFont typeface="Arial"/>
              <a:buChar char="•"/>
            </a:pPr>
            <a:endParaRPr lang="fr-FR" dirty="0">
              <a:solidFill>
                <a:schemeClr val="bg1"/>
              </a:solidFill>
            </a:endParaRPr>
          </a:p>
          <a:p>
            <a:pPr marL="285750" indent="-285750">
              <a:buFont typeface="Arial"/>
              <a:buChar char="•"/>
            </a:pPr>
            <a:endParaRPr lang="fr-FR" dirty="0">
              <a:solidFill>
                <a:schemeClr val="bg1"/>
              </a:solidFill>
            </a:endParaRPr>
          </a:p>
        </p:txBody>
      </p:sp>
    </p:spTree>
    <p:extLst>
      <p:ext uri="{BB962C8B-B14F-4D97-AF65-F5344CB8AC3E}">
        <p14:creationId xmlns:p14="http://schemas.microsoft.com/office/powerpoint/2010/main" val="2736847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C0F0D7-7249-AB68-24E8-A4216040C42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ECEE9B5-306D-8632-E33F-6A457F941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EBFD3C6-8456-E00B-A0B0-411C21335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11">
            <a:extLst>
              <a:ext uri="{FF2B5EF4-FFF2-40B4-BE49-F238E27FC236}">
                <a16:creationId xmlns:a16="http://schemas.microsoft.com/office/drawing/2014/main" id="{081AEB95-766F-B5C7-45A9-FC5DD3A88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41BFE9AB-ADC7-F3CB-A3D8-E35CE18D7C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2D0D12B-4637-30A4-4106-14EB901CB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D410D48-0D11-E4EC-63CD-26328AE48C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93990EF-9B6A-3BA1-6B9F-22FF37CF3C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4603CC4E-F2C8-8D24-C320-B9CAD174C4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DB33709-38E5-FF87-826F-8502E161D3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8AD43076-54A6-B2CF-823B-A3FEC3B76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21">
            <a:extLst>
              <a:ext uri="{FF2B5EF4-FFF2-40B4-BE49-F238E27FC236}">
                <a16:creationId xmlns:a16="http://schemas.microsoft.com/office/drawing/2014/main" id="{AE7B75C3-F540-8561-A84F-835441CB02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17C81026-8F79-EDAB-9402-F895C23554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23037E7-2BFE-9E2D-C3D8-CA46B554C6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3743033-EC8F-6BE3-C51F-7232F00710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7953F07-8EF4-0B23-72F0-930990D72A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12433D6C-A167-CE95-DAD1-3E8C40709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9">
            <a:extLst>
              <a:ext uri="{FF2B5EF4-FFF2-40B4-BE49-F238E27FC236}">
                <a16:creationId xmlns:a16="http://schemas.microsoft.com/office/drawing/2014/main" id="{5C45F3FF-9F6B-E2D6-001D-C9BF80FB90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FFCB98B9-5D22-27AE-0960-17BB18EDEE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05CF7CB-4191-A4AF-8D62-361EE8347E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FFA13E6-6DBD-2DCF-FC2A-0382F9E55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0D7DCD8-70A7-5C08-4526-7834C4D268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 name="Titre 3">
            <a:extLst>
              <a:ext uri="{FF2B5EF4-FFF2-40B4-BE49-F238E27FC236}">
                <a16:creationId xmlns:a16="http://schemas.microsoft.com/office/drawing/2014/main" id="{84030D61-8203-02E2-E486-14295A8EB8EE}"/>
              </a:ext>
            </a:extLst>
          </p:cNvPr>
          <p:cNvSpPr>
            <a:spLocks noGrp="1"/>
          </p:cNvSpPr>
          <p:nvPr>
            <p:ph type="title"/>
          </p:nvPr>
        </p:nvSpPr>
        <p:spPr/>
        <p:txBody>
          <a:bodyPr/>
          <a:lstStyle/>
          <a:p>
            <a:pPr algn="ctr"/>
            <a:r>
              <a:rPr lang="fr-FR" dirty="0">
                <a:solidFill>
                  <a:schemeClr val="bg1"/>
                </a:solidFill>
              </a:rPr>
              <a:t>Test de </a:t>
            </a:r>
            <a:r>
              <a:rPr lang="fr-FR">
                <a:solidFill>
                  <a:schemeClr val="bg1"/>
                </a:solidFill>
              </a:rPr>
              <a:t>Modélisation</a:t>
            </a:r>
            <a:endParaRPr lang="fr-FR" dirty="0" err="1"/>
          </a:p>
        </p:txBody>
      </p:sp>
      <p:pic>
        <p:nvPicPr>
          <p:cNvPr id="10" name="Image 9" descr="Une image contenant texte, capture d’écran, Police, nombre&#10;&#10;Le contenu généré par l’IA peut être incorrect.">
            <a:extLst>
              <a:ext uri="{FF2B5EF4-FFF2-40B4-BE49-F238E27FC236}">
                <a16:creationId xmlns:a16="http://schemas.microsoft.com/office/drawing/2014/main" id="{9C7282DB-26FD-73A0-7A85-1AB6F1435204}"/>
              </a:ext>
            </a:extLst>
          </p:cNvPr>
          <p:cNvPicPr>
            <a:picLocks noChangeAspect="1"/>
          </p:cNvPicPr>
          <p:nvPr/>
        </p:nvPicPr>
        <p:blipFill>
          <a:blip r:embed="rId2"/>
          <a:stretch>
            <a:fillRect/>
          </a:stretch>
        </p:blipFill>
        <p:spPr>
          <a:xfrm>
            <a:off x="657722" y="2485384"/>
            <a:ext cx="9534525" cy="2524125"/>
          </a:xfrm>
          <a:prstGeom prst="rect">
            <a:avLst/>
          </a:prstGeom>
        </p:spPr>
      </p:pic>
      <p:sp>
        <p:nvSpPr>
          <p:cNvPr id="27" name="ZoneTexte 26">
            <a:extLst>
              <a:ext uri="{FF2B5EF4-FFF2-40B4-BE49-F238E27FC236}">
                <a16:creationId xmlns:a16="http://schemas.microsoft.com/office/drawing/2014/main" id="{C084A00A-BA6E-27FC-9A8C-E267949A16C6}"/>
              </a:ext>
            </a:extLst>
          </p:cNvPr>
          <p:cNvSpPr txBox="1"/>
          <p:nvPr/>
        </p:nvSpPr>
        <p:spPr>
          <a:xfrm rot="-10800000" flipV="1">
            <a:off x="659641" y="1692575"/>
            <a:ext cx="766549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solidFill>
                  <a:schemeClr val="bg1"/>
                </a:solidFill>
              </a:rPr>
              <a:t>On prédit la consommation en fonction des données choisies sur 4 modèles</a:t>
            </a:r>
          </a:p>
          <a:p>
            <a:pPr marL="285750" indent="-285750">
              <a:buFont typeface="Arial"/>
              <a:buChar char="•"/>
            </a:pPr>
            <a:endParaRPr lang="fr-FR" dirty="0">
              <a:solidFill>
                <a:schemeClr val="bg1"/>
              </a:solidFill>
            </a:endParaRPr>
          </a:p>
          <a:p>
            <a:pPr marL="285750" indent="-285750">
              <a:buFont typeface="Arial"/>
              <a:buChar char="•"/>
            </a:pPr>
            <a:endParaRPr lang="fr-FR" dirty="0">
              <a:solidFill>
                <a:schemeClr val="bg1"/>
              </a:solidFill>
            </a:endParaRPr>
          </a:p>
        </p:txBody>
      </p:sp>
      <p:sp>
        <p:nvSpPr>
          <p:cNvPr id="28" name="ZoneTexte 27">
            <a:extLst>
              <a:ext uri="{FF2B5EF4-FFF2-40B4-BE49-F238E27FC236}">
                <a16:creationId xmlns:a16="http://schemas.microsoft.com/office/drawing/2014/main" id="{0A8D8690-1C7C-C291-20C8-0DD903803A60}"/>
              </a:ext>
            </a:extLst>
          </p:cNvPr>
          <p:cNvSpPr txBox="1"/>
          <p:nvPr/>
        </p:nvSpPr>
        <p:spPr>
          <a:xfrm rot="-10800000" flipV="1">
            <a:off x="659640" y="5284464"/>
            <a:ext cx="766549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dirty="0">
                <a:solidFill>
                  <a:schemeClr val="bg1"/>
                </a:solidFill>
              </a:rPr>
              <a:t>Le RMSE et le MAE sont élevés car il y a à l'origine de forts écarts de l'ordre de 10^8 sont observés pour la consommation </a:t>
            </a:r>
            <a:r>
              <a:rPr lang="fr-FR">
                <a:solidFill>
                  <a:schemeClr val="bg1"/>
                </a:solidFill>
              </a:rPr>
              <a:t>d'énergie</a:t>
            </a:r>
            <a:r>
              <a:rPr lang="fr-FR" dirty="0">
                <a:solidFill>
                  <a:schemeClr val="bg1"/>
                </a:solidFill>
              </a:rPr>
              <a:t> annuelle.</a:t>
            </a:r>
          </a:p>
          <a:p>
            <a:endParaRPr lang="fr-FR" dirty="0">
              <a:solidFill>
                <a:schemeClr val="bg1"/>
              </a:solidFill>
            </a:endParaRPr>
          </a:p>
          <a:p>
            <a:pPr marL="285750" indent="-285750">
              <a:buFont typeface="Arial"/>
              <a:buChar char="•"/>
            </a:pPr>
            <a:endParaRPr lang="fr-FR" dirty="0">
              <a:solidFill>
                <a:schemeClr val="bg1"/>
              </a:solidFill>
            </a:endParaRPr>
          </a:p>
          <a:p>
            <a:pPr marL="285750" indent="-285750">
              <a:buFont typeface="Arial"/>
              <a:buChar char="•"/>
            </a:pPr>
            <a:endParaRPr lang="fr-FR" dirty="0">
              <a:solidFill>
                <a:schemeClr val="bg1"/>
              </a:solidFill>
            </a:endParaRPr>
          </a:p>
        </p:txBody>
      </p:sp>
    </p:spTree>
    <p:extLst>
      <p:ext uri="{BB962C8B-B14F-4D97-AF65-F5344CB8AC3E}">
        <p14:creationId xmlns:p14="http://schemas.microsoft.com/office/powerpoint/2010/main" val="2198973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8330CB-4AD0-CAFD-50AA-66A7DED0E64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C37DDD9-79B7-2638-27D3-328522670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94FC8DB-274C-4174-457A-1AC802553F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11">
            <a:extLst>
              <a:ext uri="{FF2B5EF4-FFF2-40B4-BE49-F238E27FC236}">
                <a16:creationId xmlns:a16="http://schemas.microsoft.com/office/drawing/2014/main" id="{00E99146-9956-BDCB-BA4C-71CE4EB224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8E542519-228C-22A3-0CCF-86C2F5338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A74A4B-8A7C-7E34-0F5B-CF9F621C4B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ABA8B62-9D02-B174-2CF3-8BBDA20657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32EEEF5-C9F6-57B4-BE0A-37B8F790D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D34D9B9A-D409-21B6-1C2A-071B21EE5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889709E-462A-780D-8E5A-FE9BC967B6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8BC0E37B-DFD3-A2FF-BD34-5A1E3E3A28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21">
            <a:extLst>
              <a:ext uri="{FF2B5EF4-FFF2-40B4-BE49-F238E27FC236}">
                <a16:creationId xmlns:a16="http://schemas.microsoft.com/office/drawing/2014/main" id="{17212FFC-D116-212A-910A-1A09536CAE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BFB7397A-BAF2-2632-8111-46FA6418B2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E4B91EB-92DD-38B7-D6A2-09F03489AC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711A6C0-545B-C627-21C6-9B3D36D084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3FB3E9E-E344-7C1B-9E2F-3EB8D296C9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725E7B57-FB07-B41B-9147-0C2192F823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9">
            <a:extLst>
              <a:ext uri="{FF2B5EF4-FFF2-40B4-BE49-F238E27FC236}">
                <a16:creationId xmlns:a16="http://schemas.microsoft.com/office/drawing/2014/main" id="{409DE8F4-095B-2CBA-49E4-67B06BB147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0AD222A8-8883-27D2-4CB2-5A934953E7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8F64A00-78AB-B405-9CDB-AB53313A48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EC5DB5F-7A0F-989D-102A-9E2DFDDBBF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3325E5F-61C2-904F-DE66-94A568BEA8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 name="Titre 3">
            <a:extLst>
              <a:ext uri="{FF2B5EF4-FFF2-40B4-BE49-F238E27FC236}">
                <a16:creationId xmlns:a16="http://schemas.microsoft.com/office/drawing/2014/main" id="{07C2AEBB-8153-4872-5E2B-7FD83315D802}"/>
              </a:ext>
            </a:extLst>
          </p:cNvPr>
          <p:cNvSpPr>
            <a:spLocks noGrp="1"/>
          </p:cNvSpPr>
          <p:nvPr>
            <p:ph type="title"/>
          </p:nvPr>
        </p:nvSpPr>
        <p:spPr/>
        <p:txBody>
          <a:bodyPr/>
          <a:lstStyle/>
          <a:p>
            <a:pPr algn="ctr"/>
            <a:r>
              <a:rPr lang="fr-FR" dirty="0">
                <a:solidFill>
                  <a:schemeClr val="bg1"/>
                </a:solidFill>
              </a:rPr>
              <a:t>Evolution de la prédiction</a:t>
            </a:r>
          </a:p>
        </p:txBody>
      </p:sp>
      <p:sp>
        <p:nvSpPr>
          <p:cNvPr id="3" name="ZoneTexte 2">
            <a:extLst>
              <a:ext uri="{FF2B5EF4-FFF2-40B4-BE49-F238E27FC236}">
                <a16:creationId xmlns:a16="http://schemas.microsoft.com/office/drawing/2014/main" id="{E2C34E44-CC11-C7C7-AEBB-1CD89BCAB0CD}"/>
              </a:ext>
            </a:extLst>
          </p:cNvPr>
          <p:cNvSpPr txBox="1"/>
          <p:nvPr/>
        </p:nvSpPr>
        <p:spPr>
          <a:xfrm rot="-10800000" flipV="1">
            <a:off x="833812" y="1795209"/>
            <a:ext cx="10822348"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dirty="0">
                <a:solidFill>
                  <a:schemeClr val="bg1"/>
                </a:solidFill>
              </a:rPr>
              <a:t>On peut améliorer la prédiction en réglant les hyperparamètres:</a:t>
            </a:r>
            <a:endParaRPr lang="fr-FR"/>
          </a:p>
          <a:p>
            <a:endParaRPr lang="fr-FR" dirty="0">
              <a:solidFill>
                <a:schemeClr val="bg1"/>
              </a:solidFill>
              <a:latin typeface="Aptos"/>
            </a:endParaRPr>
          </a:p>
          <a:p>
            <a:pPr marL="628650" lvl="1" indent="-171450">
              <a:buFont typeface="Courier New"/>
              <a:buChar char="o"/>
            </a:pPr>
            <a:r>
              <a:rPr lang="fr-FR" dirty="0">
                <a:solidFill>
                  <a:schemeClr val="bg1"/>
                </a:solidFill>
                <a:highlight>
                  <a:srgbClr val="1F1F1F"/>
                </a:highlight>
                <a:latin typeface="Aptos"/>
              </a:rPr>
              <a:t>Pour le modèle de Régression linéaire :</a:t>
            </a:r>
            <a:endParaRPr lang="fr-FR" dirty="0">
              <a:solidFill>
                <a:schemeClr val="bg1"/>
              </a:solidFill>
              <a:latin typeface="Aptos Display"/>
            </a:endParaRPr>
          </a:p>
          <a:p>
            <a:pPr marL="1085850" lvl="2" indent="-171450">
              <a:buFont typeface="Courier New"/>
              <a:buChar char="o"/>
            </a:pPr>
            <a:r>
              <a:rPr lang="fr-FR" sz="1400" dirty="0">
                <a:solidFill>
                  <a:srgbClr val="CCCCCC"/>
                </a:solidFill>
                <a:highlight>
                  <a:srgbClr val="1F1F1F"/>
                </a:highlight>
                <a:latin typeface="Consolas"/>
              </a:rPr>
              <a:t>'model__</a:t>
            </a:r>
            <a:r>
              <a:rPr lang="fr-FR" sz="1400" err="1">
                <a:solidFill>
                  <a:srgbClr val="CCCCCC"/>
                </a:solidFill>
                <a:highlight>
                  <a:srgbClr val="1F1F1F"/>
                </a:highlight>
                <a:latin typeface="Consolas"/>
              </a:rPr>
              <a:t>fit_intercept</a:t>
            </a:r>
            <a:r>
              <a:rPr lang="fr-FR" sz="1400" dirty="0">
                <a:solidFill>
                  <a:srgbClr val="CCCCCC"/>
                </a:solidFill>
                <a:highlight>
                  <a:srgbClr val="1F1F1F"/>
                </a:highlight>
                <a:latin typeface="Consolas"/>
              </a:rPr>
              <a:t>': False, '</a:t>
            </a:r>
            <a:r>
              <a:rPr lang="fr-FR" sz="1400" err="1">
                <a:solidFill>
                  <a:srgbClr val="CCCCCC"/>
                </a:solidFill>
                <a:highlight>
                  <a:srgbClr val="1F1F1F"/>
                </a:highlight>
                <a:latin typeface="Consolas"/>
              </a:rPr>
              <a:t>model__positive</a:t>
            </a:r>
            <a:r>
              <a:rPr lang="fr-FR" sz="1400" dirty="0">
                <a:solidFill>
                  <a:srgbClr val="CCCCCC"/>
                </a:solidFill>
                <a:highlight>
                  <a:srgbClr val="1F1F1F"/>
                </a:highlight>
                <a:latin typeface="Consolas"/>
              </a:rPr>
              <a:t>': </a:t>
            </a:r>
            <a:r>
              <a:rPr lang="fr-FR" sz="1400" err="1">
                <a:solidFill>
                  <a:srgbClr val="CCCCCC"/>
                </a:solidFill>
                <a:highlight>
                  <a:srgbClr val="1F1F1F"/>
                </a:highlight>
                <a:latin typeface="Consolas"/>
              </a:rPr>
              <a:t>False,</a:t>
            </a:r>
            <a:r>
              <a:rPr lang="fr-FR" sz="1400" err="1">
                <a:solidFill>
                  <a:srgbClr val="9CDCFE"/>
                </a:solidFill>
                <a:highlight>
                  <a:srgbClr val="1F1F1F"/>
                </a:highlight>
                <a:latin typeface="Consolas"/>
              </a:rPr>
              <a:t>n_jobs</a:t>
            </a:r>
            <a:r>
              <a:rPr lang="fr-FR" sz="1400" dirty="0">
                <a:solidFill>
                  <a:srgbClr val="D4D4D4"/>
                </a:solidFill>
                <a:highlight>
                  <a:srgbClr val="1F1F1F"/>
                </a:highlight>
                <a:latin typeface="Consolas"/>
              </a:rPr>
              <a:t>=-</a:t>
            </a:r>
            <a:r>
              <a:rPr lang="fr-FR" sz="1400" dirty="0">
                <a:solidFill>
                  <a:srgbClr val="B5CEA8"/>
                </a:solidFill>
                <a:highlight>
                  <a:srgbClr val="1F1F1F"/>
                </a:highlight>
                <a:latin typeface="Consolas"/>
              </a:rPr>
              <a:t>1</a:t>
            </a:r>
            <a:endParaRPr lang="fr-FR" sz="1400" dirty="0">
              <a:solidFill>
                <a:srgbClr val="000000"/>
              </a:solidFill>
              <a:latin typeface="Aptos"/>
            </a:endParaRPr>
          </a:p>
          <a:p>
            <a:pPr marL="1085850" lvl="2" indent="-171450">
              <a:buFont typeface="Courier New"/>
              <a:buChar char="o"/>
            </a:pPr>
            <a:r>
              <a:rPr lang="fr-FR" dirty="0">
                <a:solidFill>
                  <a:schemeClr val="bg1"/>
                </a:solidFill>
                <a:highlight>
                  <a:srgbClr val="1F1F1F"/>
                </a:highlight>
                <a:latin typeface="Aptos"/>
              </a:rPr>
              <a:t>Le R² passe de 0.552 à 0.5954</a:t>
            </a:r>
            <a:endParaRPr lang="fr-FR" sz="1200" dirty="0">
              <a:solidFill>
                <a:schemeClr val="bg1"/>
              </a:solidFill>
              <a:highlight>
                <a:srgbClr val="1F1F1F"/>
              </a:highlight>
              <a:latin typeface="Consolas"/>
            </a:endParaRPr>
          </a:p>
          <a:p>
            <a:pPr marL="628650" lvl="1" indent="-171450">
              <a:buFont typeface="Courier New"/>
              <a:buChar char="o"/>
            </a:pPr>
            <a:endParaRPr lang="fr-FR" dirty="0">
              <a:solidFill>
                <a:schemeClr val="bg1"/>
              </a:solidFill>
              <a:highlight>
                <a:srgbClr val="1F1F1F"/>
              </a:highlight>
            </a:endParaRPr>
          </a:p>
          <a:p>
            <a:pPr marL="742950" lvl="1" indent="-285750">
              <a:buFont typeface="Courier New"/>
              <a:buChar char="o"/>
            </a:pPr>
            <a:r>
              <a:rPr lang="fr-FR" dirty="0">
                <a:solidFill>
                  <a:schemeClr val="bg1"/>
                </a:solidFill>
              </a:rPr>
              <a:t>Pour le modèle de </a:t>
            </a:r>
            <a:r>
              <a:rPr lang="fr-FR" err="1">
                <a:solidFill>
                  <a:schemeClr val="bg1"/>
                </a:solidFill>
              </a:rPr>
              <a:t>GradiantBoostingRegressor</a:t>
            </a:r>
            <a:r>
              <a:rPr lang="fr-FR" dirty="0">
                <a:solidFill>
                  <a:schemeClr val="bg1"/>
                </a:solidFill>
              </a:rPr>
              <a:t>:</a:t>
            </a:r>
          </a:p>
          <a:p>
            <a:pPr marL="1200150" lvl="2" indent="-285750">
              <a:buFont typeface="Courier New"/>
              <a:buChar char="o"/>
            </a:pPr>
            <a:r>
              <a:rPr lang="fr-FR" sz="1400" err="1">
                <a:solidFill>
                  <a:srgbClr val="9CDCFE"/>
                </a:solidFill>
                <a:highlight>
                  <a:srgbClr val="1F1F1F"/>
                </a:highlight>
                <a:latin typeface="Consolas"/>
              </a:rPr>
              <a:t>max_depth</a:t>
            </a:r>
            <a:r>
              <a:rPr lang="fr-FR" sz="1400" dirty="0">
                <a:solidFill>
                  <a:srgbClr val="D4D4D4"/>
                </a:solidFill>
                <a:highlight>
                  <a:srgbClr val="1F1F1F"/>
                </a:highlight>
                <a:latin typeface="Consolas"/>
              </a:rPr>
              <a:t>=</a:t>
            </a:r>
            <a:r>
              <a:rPr lang="fr-FR" sz="1400" dirty="0">
                <a:solidFill>
                  <a:srgbClr val="B5CEA8"/>
                </a:solidFill>
                <a:highlight>
                  <a:srgbClr val="1F1F1F"/>
                </a:highlight>
                <a:latin typeface="Consolas"/>
              </a:rPr>
              <a:t>2</a:t>
            </a:r>
            <a:r>
              <a:rPr lang="fr-FR" sz="1400" dirty="0">
                <a:solidFill>
                  <a:srgbClr val="CCCCCC"/>
                </a:solidFill>
                <a:highlight>
                  <a:srgbClr val="1F1F1F"/>
                </a:highlight>
                <a:latin typeface="Consolas"/>
              </a:rPr>
              <a:t>,</a:t>
            </a:r>
            <a:r>
              <a:rPr lang="fr-FR" sz="1400" dirty="0">
                <a:solidFill>
                  <a:srgbClr val="9CDCFE"/>
                </a:solidFill>
                <a:highlight>
                  <a:srgbClr val="1F1F1F"/>
                </a:highlight>
                <a:latin typeface="Consolas"/>
              </a:rPr>
              <a:t>n_estimators</a:t>
            </a:r>
            <a:r>
              <a:rPr lang="fr-FR" sz="1400" dirty="0">
                <a:solidFill>
                  <a:srgbClr val="D4D4D4"/>
                </a:solidFill>
                <a:highlight>
                  <a:srgbClr val="1F1F1F"/>
                </a:highlight>
                <a:latin typeface="Consolas"/>
              </a:rPr>
              <a:t>=</a:t>
            </a:r>
            <a:r>
              <a:rPr lang="fr-FR" sz="1400" dirty="0">
                <a:solidFill>
                  <a:srgbClr val="B5CEA8"/>
                </a:solidFill>
                <a:highlight>
                  <a:srgbClr val="1F1F1F"/>
                </a:highlight>
                <a:latin typeface="Consolas"/>
              </a:rPr>
              <a:t>186</a:t>
            </a:r>
            <a:r>
              <a:rPr lang="fr-FR" sz="1400" dirty="0">
                <a:solidFill>
                  <a:srgbClr val="CCCCCC"/>
                </a:solidFill>
                <a:highlight>
                  <a:srgbClr val="1F1F1F"/>
                </a:highlight>
                <a:latin typeface="Consolas"/>
              </a:rPr>
              <a:t>,</a:t>
            </a:r>
            <a:r>
              <a:rPr lang="fr-FR" sz="1400" dirty="0">
                <a:solidFill>
                  <a:srgbClr val="9CDCFE"/>
                </a:solidFill>
                <a:highlight>
                  <a:srgbClr val="1F1F1F"/>
                </a:highlight>
                <a:latin typeface="Consolas"/>
              </a:rPr>
              <a:t>loss</a:t>
            </a:r>
            <a:r>
              <a:rPr lang="fr-FR" sz="1400" dirty="0">
                <a:solidFill>
                  <a:srgbClr val="D4D4D4"/>
                </a:solidFill>
                <a:highlight>
                  <a:srgbClr val="1F1F1F"/>
                </a:highlight>
                <a:latin typeface="Consolas"/>
              </a:rPr>
              <a:t>=</a:t>
            </a:r>
            <a:r>
              <a:rPr lang="fr-FR" sz="1400" dirty="0">
                <a:solidFill>
                  <a:srgbClr val="CE9178"/>
                </a:solidFill>
                <a:highlight>
                  <a:srgbClr val="1F1F1F"/>
                </a:highlight>
                <a:latin typeface="Consolas"/>
              </a:rPr>
              <a:t>'</a:t>
            </a:r>
            <a:r>
              <a:rPr lang="fr-FR" sz="1400" err="1">
                <a:solidFill>
                  <a:srgbClr val="CE9178"/>
                </a:solidFill>
                <a:highlight>
                  <a:srgbClr val="1F1F1F"/>
                </a:highlight>
                <a:latin typeface="Consolas"/>
              </a:rPr>
              <a:t>huber</a:t>
            </a:r>
            <a:r>
              <a:rPr lang="fr-FR" sz="1400" dirty="0">
                <a:solidFill>
                  <a:srgbClr val="CE9178"/>
                </a:solidFill>
                <a:highlight>
                  <a:srgbClr val="1F1F1F"/>
                </a:highlight>
                <a:latin typeface="Consolas"/>
              </a:rPr>
              <a:t>'</a:t>
            </a:r>
            <a:endParaRPr lang="fr-FR" sz="1400" dirty="0">
              <a:solidFill>
                <a:schemeClr val="bg1"/>
              </a:solidFill>
            </a:endParaRPr>
          </a:p>
          <a:p>
            <a:pPr marL="1200150" lvl="2" indent="-285750">
              <a:buFont typeface="Courier New"/>
              <a:buChar char="o"/>
            </a:pPr>
            <a:r>
              <a:rPr lang="fr-FR" dirty="0">
                <a:solidFill>
                  <a:schemeClr val="bg1"/>
                </a:solidFill>
                <a:highlight>
                  <a:srgbClr val="1F1F1F"/>
                </a:highlight>
                <a:latin typeface="Aptos"/>
              </a:rPr>
              <a:t>Le R² passe de 0.51 à 0.5726</a:t>
            </a:r>
            <a:endParaRPr lang="fr-FR" sz="1400" dirty="0">
              <a:solidFill>
                <a:schemeClr val="bg1"/>
              </a:solidFill>
              <a:highlight>
                <a:srgbClr val="1F1F1F"/>
              </a:highlight>
              <a:latin typeface="Consolas"/>
            </a:endParaRPr>
          </a:p>
          <a:p>
            <a:pPr marL="285750" indent="-285750">
              <a:buFont typeface="Arial"/>
              <a:buChar char="•"/>
            </a:pPr>
            <a:endParaRPr lang="fr-FR" dirty="0">
              <a:solidFill>
                <a:schemeClr val="bg1"/>
              </a:solidFill>
            </a:endParaRPr>
          </a:p>
          <a:p>
            <a:r>
              <a:rPr lang="fr-FR">
                <a:solidFill>
                  <a:schemeClr val="bg1"/>
                </a:solidFill>
              </a:rPr>
              <a:t>Possibilité de fiabiliser/évoluer le modèle en utilisant:</a:t>
            </a:r>
          </a:p>
          <a:p>
            <a:pPr marL="285750" indent="-285750">
              <a:buFont typeface="Arial"/>
              <a:buChar char="•"/>
            </a:pPr>
            <a:endParaRPr lang="fr-FR" dirty="0">
              <a:solidFill>
                <a:schemeClr val="bg1"/>
              </a:solidFill>
            </a:endParaRPr>
          </a:p>
          <a:p>
            <a:pPr marL="742950" lvl="1" indent="-285750">
              <a:buFont typeface="Courier New"/>
              <a:buChar char="o"/>
            </a:pPr>
            <a:r>
              <a:rPr lang="fr-FR">
                <a:solidFill>
                  <a:schemeClr val="bg1"/>
                </a:solidFill>
              </a:rPr>
              <a:t>La multiplicité des types de building et leur surface appropriée</a:t>
            </a:r>
          </a:p>
          <a:p>
            <a:pPr marL="742950" lvl="1" indent="-285750">
              <a:buFont typeface="Courier New"/>
              <a:buChar char="o"/>
            </a:pPr>
            <a:r>
              <a:rPr lang="fr-FR" dirty="0">
                <a:solidFill>
                  <a:schemeClr val="bg1"/>
                </a:solidFill>
              </a:rPr>
              <a:t>Si on possède les données de temps, d'utiliser la données de </a:t>
            </a:r>
            <a:r>
              <a:rPr lang="fr-FR">
                <a:solidFill>
                  <a:schemeClr val="bg1"/>
                </a:solidFill>
              </a:rPr>
              <a:t>consommation</a:t>
            </a:r>
            <a:r>
              <a:rPr lang="fr-FR" dirty="0">
                <a:solidFill>
                  <a:schemeClr val="bg1"/>
                </a:solidFill>
              </a:rPr>
              <a:t> WN(cas tempête de neige)</a:t>
            </a:r>
          </a:p>
          <a:p>
            <a:pPr marL="742950" lvl="1" indent="-285750">
              <a:buFont typeface="Courier New"/>
              <a:buChar char="o"/>
            </a:pPr>
            <a:r>
              <a:rPr lang="fr-FR" dirty="0">
                <a:solidFill>
                  <a:schemeClr val="bg1"/>
                </a:solidFill>
              </a:rPr>
              <a:t>Faire une recherche sur plusieurs années pour avoir le rapport entre immeuble récent et isolation/</a:t>
            </a:r>
            <a:r>
              <a:rPr lang="fr-FR">
                <a:solidFill>
                  <a:schemeClr val="bg1"/>
                </a:solidFill>
              </a:rPr>
              <a:t>consommation</a:t>
            </a:r>
            <a:endParaRPr lang="fr-FR" dirty="0">
              <a:solidFill>
                <a:schemeClr val="bg1"/>
              </a:solidFill>
            </a:endParaRPr>
          </a:p>
        </p:txBody>
      </p:sp>
    </p:spTree>
    <p:extLst>
      <p:ext uri="{BB962C8B-B14F-4D97-AF65-F5344CB8AC3E}">
        <p14:creationId xmlns:p14="http://schemas.microsoft.com/office/powerpoint/2010/main" val="175183813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Grand écran</PresentationFormat>
  <Paragraphs>0</Paragraphs>
  <Slides>9</Slides>
  <Notes>0</Notes>
  <HiddenSlides>0</HiddenSlides>
  <MMClips>0</MMClips>
  <ScaleCrop>false</ScaleCrop>
  <HeadingPairs>
    <vt:vector size="4" baseType="variant">
      <vt:variant>
        <vt:lpstr>Thème</vt:lpstr>
      </vt:variant>
      <vt:variant>
        <vt:i4>1</vt:i4>
      </vt:variant>
      <vt:variant>
        <vt:lpstr>Titres des diapositives</vt:lpstr>
      </vt:variant>
      <vt:variant>
        <vt:i4>9</vt:i4>
      </vt:variant>
    </vt:vector>
  </HeadingPairs>
  <TitlesOfParts>
    <vt:vector size="10" baseType="lpstr">
      <vt:lpstr>Thème Office</vt:lpstr>
      <vt:lpstr>Prédiction de la consommation d'énergie de bâtiments </vt:lpstr>
      <vt:lpstr> Objectif :  </vt:lpstr>
      <vt:lpstr>Exploration  des données</vt:lpstr>
      <vt:lpstr>La multi-utilisation des bâtiments et les données liès</vt:lpstr>
      <vt:lpstr>Données géographiques</vt:lpstr>
      <vt:lpstr>Choix du SiteEnergyUse(kBtu)    Non retenu:  EUI est une propriété liée à la consommation énergétique du site divisé par sa surface brute au sol  sf est une normalisation sur 30 ans  WN sont influencés par des données de temps non présentes et non réutilisables.    </vt:lpstr>
      <vt:lpstr>Présentation PowerPoint</vt:lpstr>
      <vt:lpstr>Test de Modélisation</vt:lpstr>
      <vt:lpstr>Evolution de la prédiction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519</cp:revision>
  <dcterms:created xsi:type="dcterms:W3CDTF">2025-12-11T14:26:27Z</dcterms:created>
  <dcterms:modified xsi:type="dcterms:W3CDTF">2025-12-11T16:47:57Z</dcterms:modified>
</cp:coreProperties>
</file>